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sldIdLst>
    <p:sldId id="265" r:id="rId5"/>
    <p:sldId id="258" r:id="rId6"/>
    <p:sldId id="259" r:id="rId7"/>
    <p:sldId id="260" r:id="rId8"/>
    <p:sldId id="273" r:id="rId9"/>
    <p:sldId id="27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4253" autoAdjust="0"/>
  </p:normalViewPr>
  <p:slideViewPr>
    <p:cSldViewPr snapToGrid="0">
      <p:cViewPr varScale="1">
        <p:scale>
          <a:sx n="96" d="100"/>
          <a:sy n="96" d="100"/>
        </p:scale>
        <p:origin x="115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llo, Alice" userId="8a3e2d66-d226-4277-8813-384d0a7d6a66" providerId="ADAL" clId="{D111997E-7470-4019-BDFA-3E3B8036EFB5}"/>
    <pc:docChg chg="modSld">
      <pc:chgData name="Mello, Alice" userId="8a3e2d66-d226-4277-8813-384d0a7d6a66" providerId="ADAL" clId="{D111997E-7470-4019-BDFA-3E3B8036EFB5}" dt="2022-08-03T00:08:44.785" v="4" actId="20577"/>
      <pc:docMkLst>
        <pc:docMk/>
      </pc:docMkLst>
      <pc:sldChg chg="modSp">
        <pc:chgData name="Mello, Alice" userId="8a3e2d66-d226-4277-8813-384d0a7d6a66" providerId="ADAL" clId="{D111997E-7470-4019-BDFA-3E3B8036EFB5}" dt="2022-08-03T00:08:44.785" v="4" actId="20577"/>
        <pc:sldMkLst>
          <pc:docMk/>
          <pc:sldMk cId="2965098523" sldId="265"/>
        </pc:sldMkLst>
        <pc:spChg chg="mod">
          <ac:chgData name="Mello, Alice" userId="8a3e2d66-d226-4277-8813-384d0a7d6a66" providerId="ADAL" clId="{D111997E-7470-4019-BDFA-3E3B8036EFB5}" dt="2022-08-03T00:08:44.785" v="4" actId="20577"/>
          <ac:spMkLst>
            <pc:docMk/>
            <pc:sldMk cId="2965098523" sldId="265"/>
            <ac:spMk id="2" creationId="{90665992-C89C-42C6-9A8E-2C4D1C17D9B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AD734B-B6C5-47BE-8D95-586D4C7396BC}" type="datetimeFigureOut">
              <a:rPr lang="en-US" smtClean="0"/>
              <a:t>8/2/2022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5F6818-CC11-420B-9CDC-12DAE0DEC792}" type="slidenum">
              <a:rPr lang="en-US" smtClean="0"/>
              <a:t>‹#›</a:t>
            </a:fld>
            <a:endParaRPr lang="en-US"/>
          </a:p>
        </p:txBody>
      </p:sp>
    </p:spTree>
    <p:extLst>
      <p:ext uri="{BB962C8B-B14F-4D97-AF65-F5344CB8AC3E}">
        <p14:creationId xmlns:p14="http://schemas.microsoft.com/office/powerpoint/2010/main" val="19725176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B85F6818-CC11-420B-9CDC-12DAE0DEC792}" type="slidenum">
              <a:rPr lang="en-US" smtClean="0"/>
              <a:t>1</a:t>
            </a:fld>
            <a:endParaRPr lang="en-US"/>
          </a:p>
        </p:txBody>
      </p:sp>
    </p:spTree>
    <p:extLst>
      <p:ext uri="{BB962C8B-B14F-4D97-AF65-F5344CB8AC3E}">
        <p14:creationId xmlns:p14="http://schemas.microsoft.com/office/powerpoint/2010/main" val="19592552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B85F6818-CC11-420B-9CDC-12DAE0DEC792}" type="slidenum">
              <a:rPr lang="en-US" smtClean="0"/>
              <a:t>2</a:t>
            </a:fld>
            <a:endParaRPr lang="en-US"/>
          </a:p>
        </p:txBody>
      </p:sp>
    </p:spTree>
    <p:extLst>
      <p:ext uri="{BB962C8B-B14F-4D97-AF65-F5344CB8AC3E}">
        <p14:creationId xmlns:p14="http://schemas.microsoft.com/office/powerpoint/2010/main" val="839592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B85F6818-CC11-420B-9CDC-12DAE0DEC792}" type="slidenum">
              <a:rPr lang="en-US" smtClean="0"/>
              <a:t>3</a:t>
            </a:fld>
            <a:endParaRPr lang="en-US"/>
          </a:p>
        </p:txBody>
      </p:sp>
    </p:spTree>
    <p:extLst>
      <p:ext uri="{BB962C8B-B14F-4D97-AF65-F5344CB8AC3E}">
        <p14:creationId xmlns:p14="http://schemas.microsoft.com/office/powerpoint/2010/main" val="4759918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DG “area” identifies required controls, policies, and processes, and develops rules. Information managers (essentially everyone else) adhere to the rules.</a:t>
            </a:r>
          </a:p>
          <a:p>
            <a:r>
              <a:rPr lang="en-US" dirty="0"/>
              <a:t>EIM is the program that manages enterprise information assets to support the business and improve value. </a:t>
            </a:r>
          </a:p>
          <a:p>
            <a:r>
              <a:rPr lang="en-US" dirty="0"/>
              <a:t>EIM enterprise information management: manages the plans, policies, principles, frameworks, technologies, organizations, people, and processes in an enterprise toward the goal of maximizing the investment in data and content.</a:t>
            </a:r>
          </a:p>
        </p:txBody>
      </p:sp>
      <p:sp>
        <p:nvSpPr>
          <p:cNvPr id="4" name="Slide Number Placeholder 3"/>
          <p:cNvSpPr>
            <a:spLocks noGrp="1"/>
          </p:cNvSpPr>
          <p:nvPr>
            <p:ph type="sldNum" sz="quarter" idx="5"/>
          </p:nvPr>
        </p:nvSpPr>
        <p:spPr/>
        <p:txBody>
          <a:bodyPr/>
          <a:lstStyle/>
          <a:p>
            <a:fld id="{B85F6818-CC11-420B-9CDC-12DAE0DEC792}" type="slidenum">
              <a:rPr lang="en-US" smtClean="0"/>
              <a:t>4</a:t>
            </a:fld>
            <a:endParaRPr lang="en-US"/>
          </a:p>
        </p:txBody>
      </p:sp>
    </p:spTree>
    <p:extLst>
      <p:ext uri="{BB962C8B-B14F-4D97-AF65-F5344CB8AC3E}">
        <p14:creationId xmlns:p14="http://schemas.microsoft.com/office/powerpoint/2010/main" val="35557978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one group to present lab work</a:t>
            </a:r>
          </a:p>
        </p:txBody>
      </p:sp>
      <p:sp>
        <p:nvSpPr>
          <p:cNvPr id="4" name="Slide Number Placeholder 3"/>
          <p:cNvSpPr>
            <a:spLocks noGrp="1"/>
          </p:cNvSpPr>
          <p:nvPr>
            <p:ph type="sldNum" sz="quarter" idx="5"/>
          </p:nvPr>
        </p:nvSpPr>
        <p:spPr/>
        <p:txBody>
          <a:bodyPr/>
          <a:lstStyle/>
          <a:p>
            <a:fld id="{B85F6818-CC11-420B-9CDC-12DAE0DEC792}" type="slidenum">
              <a:rPr lang="en-US" smtClean="0"/>
              <a:t>5</a:t>
            </a:fld>
            <a:endParaRPr lang="en-US"/>
          </a:p>
        </p:txBody>
      </p:sp>
    </p:spTree>
    <p:extLst>
      <p:ext uri="{BB962C8B-B14F-4D97-AF65-F5344CB8AC3E}">
        <p14:creationId xmlns:p14="http://schemas.microsoft.com/office/powerpoint/2010/main" val="30459358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one group to present lab work</a:t>
            </a:r>
          </a:p>
        </p:txBody>
      </p:sp>
      <p:sp>
        <p:nvSpPr>
          <p:cNvPr id="4" name="Slide Number Placeholder 3"/>
          <p:cNvSpPr>
            <a:spLocks noGrp="1"/>
          </p:cNvSpPr>
          <p:nvPr>
            <p:ph type="sldNum" sz="quarter" idx="5"/>
          </p:nvPr>
        </p:nvSpPr>
        <p:spPr/>
        <p:txBody>
          <a:bodyPr/>
          <a:lstStyle/>
          <a:p>
            <a:fld id="{B85F6818-CC11-420B-9CDC-12DAE0DEC792}" type="slidenum">
              <a:rPr lang="en-US" smtClean="0"/>
              <a:t>6</a:t>
            </a:fld>
            <a:endParaRPr lang="en-US"/>
          </a:p>
        </p:txBody>
      </p:sp>
    </p:spTree>
    <p:extLst>
      <p:ext uri="{BB962C8B-B14F-4D97-AF65-F5344CB8AC3E}">
        <p14:creationId xmlns:p14="http://schemas.microsoft.com/office/powerpoint/2010/main" val="35145663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B706D-A60B-4C73-8697-D46FA27F97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40B2BA0-C1DC-4CA8-AD05-68C0C9C6D9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0ACFFEA-BB59-4EDA-B9A5-F03E41807484}"/>
              </a:ext>
            </a:extLst>
          </p:cNvPr>
          <p:cNvSpPr>
            <a:spLocks noGrp="1"/>
          </p:cNvSpPr>
          <p:nvPr>
            <p:ph type="dt" sz="half" idx="10"/>
          </p:nvPr>
        </p:nvSpPr>
        <p:spPr/>
        <p:txBody>
          <a:bodyPr/>
          <a:lstStyle/>
          <a:p>
            <a:fld id="{A172E036-FA36-4485-92B4-8C07E719A83F}" type="datetimeFigureOut">
              <a:rPr lang="en-US" smtClean="0"/>
              <a:t>8/2/2022</a:t>
            </a:fld>
            <a:endParaRPr lang="en-US"/>
          </a:p>
        </p:txBody>
      </p:sp>
      <p:sp>
        <p:nvSpPr>
          <p:cNvPr id="5" name="Footer Placeholder 4">
            <a:extLst>
              <a:ext uri="{FF2B5EF4-FFF2-40B4-BE49-F238E27FC236}">
                <a16:creationId xmlns:a16="http://schemas.microsoft.com/office/drawing/2014/main" id="{26B7B2A0-8880-43F9-9DB1-1BBA28B656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3948F0-57B4-4162-9F20-0C58156FEE83}"/>
              </a:ext>
            </a:extLst>
          </p:cNvPr>
          <p:cNvSpPr>
            <a:spLocks noGrp="1"/>
          </p:cNvSpPr>
          <p:nvPr>
            <p:ph type="sldNum" sz="quarter" idx="12"/>
          </p:nvPr>
        </p:nvSpPr>
        <p:spPr/>
        <p:txBody>
          <a:bodyPr/>
          <a:lstStyle/>
          <a:p>
            <a:fld id="{74496016-30B6-4B03-9C20-4B9E059DEA1D}" type="slidenum">
              <a:rPr lang="en-US" smtClean="0"/>
              <a:t>‹#›</a:t>
            </a:fld>
            <a:endParaRPr lang="en-US"/>
          </a:p>
        </p:txBody>
      </p:sp>
    </p:spTree>
    <p:extLst>
      <p:ext uri="{BB962C8B-B14F-4D97-AF65-F5344CB8AC3E}">
        <p14:creationId xmlns:p14="http://schemas.microsoft.com/office/powerpoint/2010/main" val="1813045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C24CF-4AF8-400C-8793-D29422171F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A12B08-8FF8-4EC0-9055-43A9E3692D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4412E2-B96D-4504-8E71-B9530A013D54}"/>
              </a:ext>
            </a:extLst>
          </p:cNvPr>
          <p:cNvSpPr>
            <a:spLocks noGrp="1"/>
          </p:cNvSpPr>
          <p:nvPr>
            <p:ph type="dt" sz="half" idx="10"/>
          </p:nvPr>
        </p:nvSpPr>
        <p:spPr/>
        <p:txBody>
          <a:bodyPr/>
          <a:lstStyle/>
          <a:p>
            <a:fld id="{A172E036-FA36-4485-92B4-8C07E719A83F}" type="datetimeFigureOut">
              <a:rPr lang="en-US" smtClean="0"/>
              <a:t>8/2/2022</a:t>
            </a:fld>
            <a:endParaRPr lang="en-US"/>
          </a:p>
        </p:txBody>
      </p:sp>
      <p:sp>
        <p:nvSpPr>
          <p:cNvPr id="5" name="Footer Placeholder 4">
            <a:extLst>
              <a:ext uri="{FF2B5EF4-FFF2-40B4-BE49-F238E27FC236}">
                <a16:creationId xmlns:a16="http://schemas.microsoft.com/office/drawing/2014/main" id="{EB333441-5545-42C7-8F00-0CF8FF3566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DA4565-0FEF-4AB4-8CDD-55676FA7F8B2}"/>
              </a:ext>
            </a:extLst>
          </p:cNvPr>
          <p:cNvSpPr>
            <a:spLocks noGrp="1"/>
          </p:cNvSpPr>
          <p:nvPr>
            <p:ph type="sldNum" sz="quarter" idx="12"/>
          </p:nvPr>
        </p:nvSpPr>
        <p:spPr/>
        <p:txBody>
          <a:bodyPr/>
          <a:lstStyle/>
          <a:p>
            <a:fld id="{74496016-30B6-4B03-9C20-4B9E059DEA1D}" type="slidenum">
              <a:rPr lang="en-US" smtClean="0"/>
              <a:t>‹#›</a:t>
            </a:fld>
            <a:endParaRPr lang="en-US"/>
          </a:p>
        </p:txBody>
      </p:sp>
    </p:spTree>
    <p:extLst>
      <p:ext uri="{BB962C8B-B14F-4D97-AF65-F5344CB8AC3E}">
        <p14:creationId xmlns:p14="http://schemas.microsoft.com/office/powerpoint/2010/main" val="236670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6F8DC-0C77-4420-86FD-515FA3477D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BB370EC-C786-476C-928F-19BC23410A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2615D3-C799-470C-9471-3F95742F5235}"/>
              </a:ext>
            </a:extLst>
          </p:cNvPr>
          <p:cNvSpPr>
            <a:spLocks noGrp="1"/>
          </p:cNvSpPr>
          <p:nvPr>
            <p:ph type="dt" sz="half" idx="10"/>
          </p:nvPr>
        </p:nvSpPr>
        <p:spPr/>
        <p:txBody>
          <a:bodyPr/>
          <a:lstStyle/>
          <a:p>
            <a:fld id="{A172E036-FA36-4485-92B4-8C07E719A83F}" type="datetimeFigureOut">
              <a:rPr lang="en-US" smtClean="0"/>
              <a:t>8/2/2022</a:t>
            </a:fld>
            <a:endParaRPr lang="en-US"/>
          </a:p>
        </p:txBody>
      </p:sp>
      <p:sp>
        <p:nvSpPr>
          <p:cNvPr id="5" name="Footer Placeholder 4">
            <a:extLst>
              <a:ext uri="{FF2B5EF4-FFF2-40B4-BE49-F238E27FC236}">
                <a16:creationId xmlns:a16="http://schemas.microsoft.com/office/drawing/2014/main" id="{D35A6926-5A1E-4FCF-B1F7-8CA27E45AF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2EDB7E-4FE8-4A27-8B06-90F56EF827FD}"/>
              </a:ext>
            </a:extLst>
          </p:cNvPr>
          <p:cNvSpPr>
            <a:spLocks noGrp="1"/>
          </p:cNvSpPr>
          <p:nvPr>
            <p:ph type="sldNum" sz="quarter" idx="12"/>
          </p:nvPr>
        </p:nvSpPr>
        <p:spPr/>
        <p:txBody>
          <a:bodyPr/>
          <a:lstStyle/>
          <a:p>
            <a:fld id="{74496016-30B6-4B03-9C20-4B9E059DEA1D}" type="slidenum">
              <a:rPr lang="en-US" smtClean="0"/>
              <a:t>‹#›</a:t>
            </a:fld>
            <a:endParaRPr lang="en-US"/>
          </a:p>
        </p:txBody>
      </p:sp>
    </p:spTree>
    <p:extLst>
      <p:ext uri="{BB962C8B-B14F-4D97-AF65-F5344CB8AC3E}">
        <p14:creationId xmlns:p14="http://schemas.microsoft.com/office/powerpoint/2010/main" val="390097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94510-CDFE-44AF-AAD4-78B27945C1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84193D-9C0B-426D-B005-EDCBCD32A96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D0CD87A-BE4D-49D3-BD7B-2A2325508D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631F9FD-13C8-447F-915F-233F08975131}"/>
              </a:ext>
            </a:extLst>
          </p:cNvPr>
          <p:cNvSpPr>
            <a:spLocks noGrp="1"/>
          </p:cNvSpPr>
          <p:nvPr>
            <p:ph type="dt" sz="half" idx="10"/>
          </p:nvPr>
        </p:nvSpPr>
        <p:spPr/>
        <p:txBody>
          <a:bodyPr/>
          <a:lstStyle/>
          <a:p>
            <a:fld id="{A172E036-FA36-4485-92B4-8C07E719A83F}" type="datetimeFigureOut">
              <a:rPr lang="en-US" smtClean="0"/>
              <a:t>8/2/2022</a:t>
            </a:fld>
            <a:endParaRPr lang="en-US"/>
          </a:p>
        </p:txBody>
      </p:sp>
      <p:sp>
        <p:nvSpPr>
          <p:cNvPr id="6" name="Footer Placeholder 5">
            <a:extLst>
              <a:ext uri="{FF2B5EF4-FFF2-40B4-BE49-F238E27FC236}">
                <a16:creationId xmlns:a16="http://schemas.microsoft.com/office/drawing/2014/main" id="{D5C381F3-7733-416F-8C58-AA68A6FB8A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C45D2B-575F-429F-8FBD-DEE955A08F4C}"/>
              </a:ext>
            </a:extLst>
          </p:cNvPr>
          <p:cNvSpPr>
            <a:spLocks noGrp="1"/>
          </p:cNvSpPr>
          <p:nvPr>
            <p:ph type="sldNum" sz="quarter" idx="12"/>
          </p:nvPr>
        </p:nvSpPr>
        <p:spPr/>
        <p:txBody>
          <a:bodyPr/>
          <a:lstStyle/>
          <a:p>
            <a:fld id="{74496016-30B6-4B03-9C20-4B9E059DEA1D}" type="slidenum">
              <a:rPr lang="en-US" smtClean="0"/>
              <a:t>‹#›</a:t>
            </a:fld>
            <a:endParaRPr lang="en-US"/>
          </a:p>
        </p:txBody>
      </p:sp>
    </p:spTree>
    <p:extLst>
      <p:ext uri="{BB962C8B-B14F-4D97-AF65-F5344CB8AC3E}">
        <p14:creationId xmlns:p14="http://schemas.microsoft.com/office/powerpoint/2010/main" val="3258917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45212-8140-445F-9FE9-73B7C59CC90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DB96F55-81FB-4E43-B4F3-DC014FD8AB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6F1D28-C2C7-4C1D-A4AC-331E26C2A1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51C84DF-A8D9-445B-87F4-BCD8BA909E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AC1248-B068-47CB-A29A-45AAA1DCBA7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191713E-DDFF-455D-AAB7-9CDC97D836F2}"/>
              </a:ext>
            </a:extLst>
          </p:cNvPr>
          <p:cNvSpPr>
            <a:spLocks noGrp="1"/>
          </p:cNvSpPr>
          <p:nvPr>
            <p:ph type="dt" sz="half" idx="10"/>
          </p:nvPr>
        </p:nvSpPr>
        <p:spPr/>
        <p:txBody>
          <a:bodyPr/>
          <a:lstStyle/>
          <a:p>
            <a:fld id="{A172E036-FA36-4485-92B4-8C07E719A83F}" type="datetimeFigureOut">
              <a:rPr lang="en-US" smtClean="0"/>
              <a:t>8/2/2022</a:t>
            </a:fld>
            <a:endParaRPr lang="en-US"/>
          </a:p>
        </p:txBody>
      </p:sp>
      <p:sp>
        <p:nvSpPr>
          <p:cNvPr id="8" name="Footer Placeholder 7">
            <a:extLst>
              <a:ext uri="{FF2B5EF4-FFF2-40B4-BE49-F238E27FC236}">
                <a16:creationId xmlns:a16="http://schemas.microsoft.com/office/drawing/2014/main" id="{DA8EE36C-3FBF-4333-9276-83BA33D3B2E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B573A3-ABDD-4C73-B328-29C4CBC5AE97}"/>
              </a:ext>
            </a:extLst>
          </p:cNvPr>
          <p:cNvSpPr>
            <a:spLocks noGrp="1"/>
          </p:cNvSpPr>
          <p:nvPr>
            <p:ph type="sldNum" sz="quarter" idx="12"/>
          </p:nvPr>
        </p:nvSpPr>
        <p:spPr/>
        <p:txBody>
          <a:bodyPr/>
          <a:lstStyle/>
          <a:p>
            <a:fld id="{74496016-30B6-4B03-9C20-4B9E059DEA1D}" type="slidenum">
              <a:rPr lang="en-US" smtClean="0"/>
              <a:t>‹#›</a:t>
            </a:fld>
            <a:endParaRPr lang="en-US"/>
          </a:p>
        </p:txBody>
      </p:sp>
    </p:spTree>
    <p:extLst>
      <p:ext uri="{BB962C8B-B14F-4D97-AF65-F5344CB8AC3E}">
        <p14:creationId xmlns:p14="http://schemas.microsoft.com/office/powerpoint/2010/main" val="176517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13F9C-29E4-4010-A992-F9EDC6B96F4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79AF9B0-B4DD-4D0C-876E-D4205A6E1C13}"/>
              </a:ext>
            </a:extLst>
          </p:cNvPr>
          <p:cNvSpPr>
            <a:spLocks noGrp="1"/>
          </p:cNvSpPr>
          <p:nvPr>
            <p:ph type="dt" sz="half" idx="10"/>
          </p:nvPr>
        </p:nvSpPr>
        <p:spPr/>
        <p:txBody>
          <a:bodyPr/>
          <a:lstStyle/>
          <a:p>
            <a:fld id="{A172E036-FA36-4485-92B4-8C07E719A83F}" type="datetimeFigureOut">
              <a:rPr lang="en-US" smtClean="0"/>
              <a:t>8/2/2022</a:t>
            </a:fld>
            <a:endParaRPr lang="en-US"/>
          </a:p>
        </p:txBody>
      </p:sp>
      <p:sp>
        <p:nvSpPr>
          <p:cNvPr id="4" name="Footer Placeholder 3">
            <a:extLst>
              <a:ext uri="{FF2B5EF4-FFF2-40B4-BE49-F238E27FC236}">
                <a16:creationId xmlns:a16="http://schemas.microsoft.com/office/drawing/2014/main" id="{AD822784-D2D9-4F28-8EBE-CE7B85A6A5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DADF15B-0437-43C3-82B2-B5656D2FFB4B}"/>
              </a:ext>
            </a:extLst>
          </p:cNvPr>
          <p:cNvSpPr>
            <a:spLocks noGrp="1"/>
          </p:cNvSpPr>
          <p:nvPr>
            <p:ph type="sldNum" sz="quarter" idx="12"/>
          </p:nvPr>
        </p:nvSpPr>
        <p:spPr/>
        <p:txBody>
          <a:bodyPr/>
          <a:lstStyle/>
          <a:p>
            <a:fld id="{74496016-30B6-4B03-9C20-4B9E059DEA1D}" type="slidenum">
              <a:rPr lang="en-US" smtClean="0"/>
              <a:t>‹#›</a:t>
            </a:fld>
            <a:endParaRPr lang="en-US"/>
          </a:p>
        </p:txBody>
      </p:sp>
    </p:spTree>
    <p:extLst>
      <p:ext uri="{BB962C8B-B14F-4D97-AF65-F5344CB8AC3E}">
        <p14:creationId xmlns:p14="http://schemas.microsoft.com/office/powerpoint/2010/main" val="1000963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63207E-E7BB-48FC-86A5-7F1557B05CC1}"/>
              </a:ext>
            </a:extLst>
          </p:cNvPr>
          <p:cNvSpPr>
            <a:spLocks noGrp="1"/>
          </p:cNvSpPr>
          <p:nvPr>
            <p:ph type="dt" sz="half" idx="10"/>
          </p:nvPr>
        </p:nvSpPr>
        <p:spPr/>
        <p:txBody>
          <a:bodyPr/>
          <a:lstStyle/>
          <a:p>
            <a:fld id="{A172E036-FA36-4485-92B4-8C07E719A83F}" type="datetimeFigureOut">
              <a:rPr lang="en-US" smtClean="0"/>
              <a:t>8/2/2022</a:t>
            </a:fld>
            <a:endParaRPr lang="en-US"/>
          </a:p>
        </p:txBody>
      </p:sp>
      <p:sp>
        <p:nvSpPr>
          <p:cNvPr id="3" name="Footer Placeholder 2">
            <a:extLst>
              <a:ext uri="{FF2B5EF4-FFF2-40B4-BE49-F238E27FC236}">
                <a16:creationId xmlns:a16="http://schemas.microsoft.com/office/drawing/2014/main" id="{84BD61C7-76D6-4344-A17A-F93DAFA0BF2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A2D1EDC-4F0F-46B1-8C53-CE8F07BBFA81}"/>
              </a:ext>
            </a:extLst>
          </p:cNvPr>
          <p:cNvSpPr>
            <a:spLocks noGrp="1"/>
          </p:cNvSpPr>
          <p:nvPr>
            <p:ph type="sldNum" sz="quarter" idx="12"/>
          </p:nvPr>
        </p:nvSpPr>
        <p:spPr/>
        <p:txBody>
          <a:bodyPr/>
          <a:lstStyle/>
          <a:p>
            <a:fld id="{74496016-30B6-4B03-9C20-4B9E059DEA1D}" type="slidenum">
              <a:rPr lang="en-US" smtClean="0"/>
              <a:t>‹#›</a:t>
            </a:fld>
            <a:endParaRPr lang="en-US"/>
          </a:p>
        </p:txBody>
      </p:sp>
    </p:spTree>
    <p:extLst>
      <p:ext uri="{BB962C8B-B14F-4D97-AF65-F5344CB8AC3E}">
        <p14:creationId xmlns:p14="http://schemas.microsoft.com/office/powerpoint/2010/main" val="32240275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53D79-4CDB-4B3B-A42D-6A1313F338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90BE020-6259-44B4-A410-62FD5B8D29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A38A4BF-C822-4FA4-B2E8-68BD90C11C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F220E9-80EF-402E-9A63-DAF1A93B4930}"/>
              </a:ext>
            </a:extLst>
          </p:cNvPr>
          <p:cNvSpPr>
            <a:spLocks noGrp="1"/>
          </p:cNvSpPr>
          <p:nvPr>
            <p:ph type="dt" sz="half" idx="10"/>
          </p:nvPr>
        </p:nvSpPr>
        <p:spPr/>
        <p:txBody>
          <a:bodyPr/>
          <a:lstStyle/>
          <a:p>
            <a:fld id="{A172E036-FA36-4485-92B4-8C07E719A83F}" type="datetimeFigureOut">
              <a:rPr lang="en-US" smtClean="0"/>
              <a:t>8/2/2022</a:t>
            </a:fld>
            <a:endParaRPr lang="en-US"/>
          </a:p>
        </p:txBody>
      </p:sp>
      <p:sp>
        <p:nvSpPr>
          <p:cNvPr id="6" name="Footer Placeholder 5">
            <a:extLst>
              <a:ext uri="{FF2B5EF4-FFF2-40B4-BE49-F238E27FC236}">
                <a16:creationId xmlns:a16="http://schemas.microsoft.com/office/drawing/2014/main" id="{2F7C0D06-125D-47BA-9BEF-756ADA09DE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7640F0-75D0-4E22-865F-DE0F3EA8E42D}"/>
              </a:ext>
            </a:extLst>
          </p:cNvPr>
          <p:cNvSpPr>
            <a:spLocks noGrp="1"/>
          </p:cNvSpPr>
          <p:nvPr>
            <p:ph type="sldNum" sz="quarter" idx="12"/>
          </p:nvPr>
        </p:nvSpPr>
        <p:spPr/>
        <p:txBody>
          <a:bodyPr/>
          <a:lstStyle/>
          <a:p>
            <a:fld id="{74496016-30B6-4B03-9C20-4B9E059DEA1D}" type="slidenum">
              <a:rPr lang="en-US" smtClean="0"/>
              <a:t>‹#›</a:t>
            </a:fld>
            <a:endParaRPr lang="en-US"/>
          </a:p>
        </p:txBody>
      </p:sp>
    </p:spTree>
    <p:extLst>
      <p:ext uri="{BB962C8B-B14F-4D97-AF65-F5344CB8AC3E}">
        <p14:creationId xmlns:p14="http://schemas.microsoft.com/office/powerpoint/2010/main" val="11310205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1C287-05E3-457C-874A-9395273162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BB9324E-858D-4457-9C5A-6A81CD95C1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FDCE20E-BBAA-4779-9E01-D9213E85EA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AA61F4-62C4-451C-8D55-859BDCE7DE24}"/>
              </a:ext>
            </a:extLst>
          </p:cNvPr>
          <p:cNvSpPr>
            <a:spLocks noGrp="1"/>
          </p:cNvSpPr>
          <p:nvPr>
            <p:ph type="dt" sz="half" idx="10"/>
          </p:nvPr>
        </p:nvSpPr>
        <p:spPr/>
        <p:txBody>
          <a:bodyPr/>
          <a:lstStyle/>
          <a:p>
            <a:fld id="{A172E036-FA36-4485-92B4-8C07E719A83F}" type="datetimeFigureOut">
              <a:rPr lang="en-US" smtClean="0"/>
              <a:t>8/2/2022</a:t>
            </a:fld>
            <a:endParaRPr lang="en-US"/>
          </a:p>
        </p:txBody>
      </p:sp>
      <p:sp>
        <p:nvSpPr>
          <p:cNvPr id="6" name="Footer Placeholder 5">
            <a:extLst>
              <a:ext uri="{FF2B5EF4-FFF2-40B4-BE49-F238E27FC236}">
                <a16:creationId xmlns:a16="http://schemas.microsoft.com/office/drawing/2014/main" id="{DAA0B9A0-5B47-4C6F-A27A-3560AFA982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714DCE-8830-43E8-A756-0209EE0B33C6}"/>
              </a:ext>
            </a:extLst>
          </p:cNvPr>
          <p:cNvSpPr>
            <a:spLocks noGrp="1"/>
          </p:cNvSpPr>
          <p:nvPr>
            <p:ph type="sldNum" sz="quarter" idx="12"/>
          </p:nvPr>
        </p:nvSpPr>
        <p:spPr/>
        <p:txBody>
          <a:bodyPr/>
          <a:lstStyle/>
          <a:p>
            <a:fld id="{74496016-30B6-4B03-9C20-4B9E059DEA1D}" type="slidenum">
              <a:rPr lang="en-US" smtClean="0"/>
              <a:t>‹#›</a:t>
            </a:fld>
            <a:endParaRPr lang="en-US"/>
          </a:p>
        </p:txBody>
      </p:sp>
    </p:spTree>
    <p:extLst>
      <p:ext uri="{BB962C8B-B14F-4D97-AF65-F5344CB8AC3E}">
        <p14:creationId xmlns:p14="http://schemas.microsoft.com/office/powerpoint/2010/main" val="2173189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6E2FC-68EC-4B80-89FF-1DBBDFF1920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D1919EF-BB2E-4033-A3A7-E5637020497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A4AB8E-B1ED-4822-8B4E-B240DCBB6192}"/>
              </a:ext>
            </a:extLst>
          </p:cNvPr>
          <p:cNvSpPr>
            <a:spLocks noGrp="1"/>
          </p:cNvSpPr>
          <p:nvPr>
            <p:ph type="dt" sz="half" idx="10"/>
          </p:nvPr>
        </p:nvSpPr>
        <p:spPr/>
        <p:txBody>
          <a:bodyPr/>
          <a:lstStyle/>
          <a:p>
            <a:fld id="{A172E036-FA36-4485-92B4-8C07E719A83F}" type="datetimeFigureOut">
              <a:rPr lang="en-US" smtClean="0"/>
              <a:t>8/2/2022</a:t>
            </a:fld>
            <a:endParaRPr lang="en-US"/>
          </a:p>
        </p:txBody>
      </p:sp>
      <p:sp>
        <p:nvSpPr>
          <p:cNvPr id="5" name="Footer Placeholder 4">
            <a:extLst>
              <a:ext uri="{FF2B5EF4-FFF2-40B4-BE49-F238E27FC236}">
                <a16:creationId xmlns:a16="http://schemas.microsoft.com/office/drawing/2014/main" id="{0EDE1E92-CBCB-4A99-92F9-79ED336B89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4A6520-A218-44B8-91CD-CB175F770568}"/>
              </a:ext>
            </a:extLst>
          </p:cNvPr>
          <p:cNvSpPr>
            <a:spLocks noGrp="1"/>
          </p:cNvSpPr>
          <p:nvPr>
            <p:ph type="sldNum" sz="quarter" idx="12"/>
          </p:nvPr>
        </p:nvSpPr>
        <p:spPr/>
        <p:txBody>
          <a:bodyPr/>
          <a:lstStyle/>
          <a:p>
            <a:fld id="{74496016-30B6-4B03-9C20-4B9E059DEA1D}" type="slidenum">
              <a:rPr lang="en-US" smtClean="0"/>
              <a:t>‹#›</a:t>
            </a:fld>
            <a:endParaRPr lang="en-US"/>
          </a:p>
        </p:txBody>
      </p:sp>
    </p:spTree>
    <p:extLst>
      <p:ext uri="{BB962C8B-B14F-4D97-AF65-F5344CB8AC3E}">
        <p14:creationId xmlns:p14="http://schemas.microsoft.com/office/powerpoint/2010/main" val="2663297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9DA5DA-5E86-4D62-96BC-A839084888E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7315BF-C8DE-4542-AD8F-E6ADDAC0188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A152E1-FC7C-4945-8035-A075A043F8B1}"/>
              </a:ext>
            </a:extLst>
          </p:cNvPr>
          <p:cNvSpPr>
            <a:spLocks noGrp="1"/>
          </p:cNvSpPr>
          <p:nvPr>
            <p:ph type="dt" sz="half" idx="10"/>
          </p:nvPr>
        </p:nvSpPr>
        <p:spPr/>
        <p:txBody>
          <a:bodyPr/>
          <a:lstStyle/>
          <a:p>
            <a:fld id="{A172E036-FA36-4485-92B4-8C07E719A83F}" type="datetimeFigureOut">
              <a:rPr lang="en-US" smtClean="0"/>
              <a:t>8/2/2022</a:t>
            </a:fld>
            <a:endParaRPr lang="en-US"/>
          </a:p>
        </p:txBody>
      </p:sp>
      <p:sp>
        <p:nvSpPr>
          <p:cNvPr id="5" name="Footer Placeholder 4">
            <a:extLst>
              <a:ext uri="{FF2B5EF4-FFF2-40B4-BE49-F238E27FC236}">
                <a16:creationId xmlns:a16="http://schemas.microsoft.com/office/drawing/2014/main" id="{EC5B18BA-F038-46A0-9054-ECB7AA9B7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F50216-D18D-4A3D-8A8E-89E462E0317E}"/>
              </a:ext>
            </a:extLst>
          </p:cNvPr>
          <p:cNvSpPr>
            <a:spLocks noGrp="1"/>
          </p:cNvSpPr>
          <p:nvPr>
            <p:ph type="sldNum" sz="quarter" idx="12"/>
          </p:nvPr>
        </p:nvSpPr>
        <p:spPr/>
        <p:txBody>
          <a:bodyPr/>
          <a:lstStyle/>
          <a:p>
            <a:fld id="{74496016-30B6-4B03-9C20-4B9E059DEA1D}" type="slidenum">
              <a:rPr lang="en-US" smtClean="0"/>
              <a:t>‹#›</a:t>
            </a:fld>
            <a:endParaRPr lang="en-US"/>
          </a:p>
        </p:txBody>
      </p:sp>
    </p:spTree>
    <p:extLst>
      <p:ext uri="{BB962C8B-B14F-4D97-AF65-F5344CB8AC3E}">
        <p14:creationId xmlns:p14="http://schemas.microsoft.com/office/powerpoint/2010/main" val="91982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92937C-0387-4E1B-A802-FC55991FA2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1B9E441-B02F-456A-8E8D-9890255AC5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58C881-C39D-4514-A93F-6BD284CF86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72E036-FA36-4485-92B4-8C07E719A83F}" type="datetimeFigureOut">
              <a:rPr lang="en-US" smtClean="0"/>
              <a:t>8/2/2022</a:t>
            </a:fld>
            <a:endParaRPr lang="en-US"/>
          </a:p>
        </p:txBody>
      </p:sp>
      <p:sp>
        <p:nvSpPr>
          <p:cNvPr id="5" name="Footer Placeholder 4">
            <a:extLst>
              <a:ext uri="{FF2B5EF4-FFF2-40B4-BE49-F238E27FC236}">
                <a16:creationId xmlns:a16="http://schemas.microsoft.com/office/drawing/2014/main" id="{8D16137C-4B5C-4C8E-BA0E-01C31387EF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E9CC0B6-18CE-4240-8E1F-0476406911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496016-30B6-4B03-9C20-4B9E059DEA1D}" type="slidenum">
              <a:rPr lang="en-US" smtClean="0"/>
              <a:t>‹#›</a:t>
            </a:fld>
            <a:endParaRPr lang="en-US"/>
          </a:p>
        </p:txBody>
      </p:sp>
    </p:spTree>
    <p:extLst>
      <p:ext uri="{BB962C8B-B14F-4D97-AF65-F5344CB8AC3E}">
        <p14:creationId xmlns:p14="http://schemas.microsoft.com/office/powerpoint/2010/main" val="22819083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www.techtarget.com/searchdatamanagement/definition/data"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emf"/></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66B332A4-D438-4773-A77F-5ED49A448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DF9AD32D-FF05-44F4-BD4D-9CEE89B71E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0665992-C89C-42C6-9A8E-2C4D1C17D9B9}"/>
              </a:ext>
            </a:extLst>
          </p:cNvPr>
          <p:cNvSpPr>
            <a:spLocks noGrp="1"/>
          </p:cNvSpPr>
          <p:nvPr>
            <p:ph type="title"/>
          </p:nvPr>
        </p:nvSpPr>
        <p:spPr>
          <a:xfrm>
            <a:off x="2555631" y="1441938"/>
            <a:ext cx="7080738" cy="3974124"/>
          </a:xfrm>
        </p:spPr>
        <p:txBody>
          <a:bodyPr vert="horz" lIns="91440" tIns="45720" rIns="91440" bIns="45720" rtlCol="0" anchor="ctr">
            <a:normAutofit/>
          </a:bodyPr>
          <a:lstStyle/>
          <a:p>
            <a:pPr algn="ctr"/>
            <a:r>
              <a:rPr lang="en-US" sz="5400" dirty="0">
                <a:solidFill>
                  <a:schemeClr val="bg1">
                    <a:lumMod val="95000"/>
                    <a:lumOff val="5000"/>
                  </a:schemeClr>
                </a:solidFill>
              </a:rPr>
              <a:t>ALY6980 </a:t>
            </a:r>
            <a:br>
              <a:rPr lang="en-US" sz="5400">
                <a:solidFill>
                  <a:schemeClr val="bg1">
                    <a:lumMod val="95000"/>
                    <a:lumOff val="5000"/>
                  </a:schemeClr>
                </a:solidFill>
              </a:rPr>
            </a:br>
            <a:r>
              <a:rPr lang="en-US" sz="5400">
                <a:solidFill>
                  <a:schemeClr val="bg1">
                    <a:lumMod val="95000"/>
                    <a:lumOff val="5000"/>
                  </a:schemeClr>
                </a:solidFill>
              </a:rPr>
              <a:t>Capstone</a:t>
            </a:r>
            <a:endParaRPr lang="en-US" sz="5400" dirty="0">
              <a:solidFill>
                <a:schemeClr val="bg1">
                  <a:lumMod val="95000"/>
                  <a:lumOff val="5000"/>
                </a:schemeClr>
              </a:solidFill>
            </a:endParaRPr>
          </a:p>
        </p:txBody>
      </p:sp>
      <p:pic>
        <p:nvPicPr>
          <p:cNvPr id="4" name="Picture 3">
            <a:extLst>
              <a:ext uri="{FF2B5EF4-FFF2-40B4-BE49-F238E27FC236}">
                <a16:creationId xmlns:a16="http://schemas.microsoft.com/office/drawing/2014/main" id="{104E7E87-1053-4171-A8B1-163D692BA41E}"/>
              </a:ext>
            </a:extLst>
          </p:cNvPr>
          <p:cNvPicPr>
            <a:picLocks noChangeAspect="1"/>
          </p:cNvPicPr>
          <p:nvPr/>
        </p:nvPicPr>
        <p:blipFill>
          <a:blip r:embed="rId3"/>
          <a:stretch>
            <a:fillRect/>
          </a:stretch>
        </p:blipFill>
        <p:spPr>
          <a:xfrm>
            <a:off x="63941" y="63501"/>
            <a:ext cx="744449" cy="703416"/>
          </a:xfrm>
          <a:prstGeom prst="rect">
            <a:avLst/>
          </a:prstGeom>
        </p:spPr>
      </p:pic>
      <p:sp>
        <p:nvSpPr>
          <p:cNvPr id="3" name="TextBox 2">
            <a:extLst>
              <a:ext uri="{FF2B5EF4-FFF2-40B4-BE49-F238E27FC236}">
                <a16:creationId xmlns:a16="http://schemas.microsoft.com/office/drawing/2014/main" id="{F7B3700F-EFC5-4504-8354-941843C9F52A}"/>
              </a:ext>
            </a:extLst>
          </p:cNvPr>
          <p:cNvSpPr txBox="1"/>
          <p:nvPr/>
        </p:nvSpPr>
        <p:spPr>
          <a:xfrm>
            <a:off x="9338703" y="5791200"/>
            <a:ext cx="2868029" cy="923330"/>
          </a:xfrm>
          <a:prstGeom prst="rect">
            <a:avLst/>
          </a:prstGeom>
          <a:noFill/>
        </p:spPr>
        <p:txBody>
          <a:bodyPr wrap="none" rtlCol="0">
            <a:spAutoFit/>
          </a:bodyPr>
          <a:lstStyle/>
          <a:p>
            <a:r>
              <a:rPr lang="en-US" dirty="0"/>
              <a:t>What is your goal?</a:t>
            </a:r>
          </a:p>
          <a:p>
            <a:r>
              <a:rPr lang="en-US" dirty="0"/>
              <a:t> What to expect?</a:t>
            </a:r>
          </a:p>
          <a:p>
            <a:r>
              <a:rPr lang="en-US" dirty="0"/>
              <a:t> What is expected from you?</a:t>
            </a:r>
          </a:p>
        </p:txBody>
      </p:sp>
    </p:spTree>
    <p:extLst>
      <p:ext uri="{BB962C8B-B14F-4D97-AF65-F5344CB8AC3E}">
        <p14:creationId xmlns:p14="http://schemas.microsoft.com/office/powerpoint/2010/main" val="2965098523"/>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77003-DE48-4A2C-9286-E5401F95090D}"/>
              </a:ext>
            </a:extLst>
          </p:cNvPr>
          <p:cNvSpPr>
            <a:spLocks noGrp="1"/>
          </p:cNvSpPr>
          <p:nvPr>
            <p:ph type="ctrTitle"/>
          </p:nvPr>
        </p:nvSpPr>
        <p:spPr>
          <a:xfrm>
            <a:off x="1524000" y="354148"/>
            <a:ext cx="9144000" cy="477837"/>
          </a:xfrm>
        </p:spPr>
        <p:txBody>
          <a:bodyPr>
            <a:noAutofit/>
          </a:bodyPr>
          <a:lstStyle/>
          <a:p>
            <a:r>
              <a:rPr lang="en-US" sz="4800" dirty="0">
                <a:latin typeface="Agency FB" panose="020B0503020202020204" pitchFamily="34" charset="0"/>
              </a:rPr>
              <a:t>Introduction to Data Governance</a:t>
            </a:r>
          </a:p>
        </p:txBody>
      </p:sp>
      <p:sp>
        <p:nvSpPr>
          <p:cNvPr id="3" name="Subtitle 2">
            <a:extLst>
              <a:ext uri="{FF2B5EF4-FFF2-40B4-BE49-F238E27FC236}">
                <a16:creationId xmlns:a16="http://schemas.microsoft.com/office/drawing/2014/main" id="{F4C4029A-9E69-4157-9429-DA34E7588CF1}"/>
              </a:ext>
            </a:extLst>
          </p:cNvPr>
          <p:cNvSpPr>
            <a:spLocks noGrp="1"/>
          </p:cNvSpPr>
          <p:nvPr>
            <p:ph type="subTitle" idx="1"/>
          </p:nvPr>
        </p:nvSpPr>
        <p:spPr>
          <a:xfrm>
            <a:off x="243758" y="1017086"/>
            <a:ext cx="11681862" cy="1572254"/>
          </a:xfrm>
        </p:spPr>
        <p:txBody>
          <a:bodyPr>
            <a:normAutofit fontScale="70000" lnSpcReduction="20000"/>
          </a:bodyPr>
          <a:lstStyle/>
          <a:p>
            <a:pPr algn="l"/>
            <a:r>
              <a:rPr lang="en-US" dirty="0"/>
              <a:t>Data management is the process of collecting, processing, governing, sharing and analyzing data — and doing it all in a cost-efficient, effective and reliable manner</a:t>
            </a:r>
          </a:p>
          <a:p>
            <a:pPr algn="l"/>
            <a:r>
              <a:rPr lang="en-US" dirty="0"/>
              <a:t>Data governance (DG) is the process of managing the availability, usability, integrity and security of the </a:t>
            </a:r>
            <a:r>
              <a:rPr lang="en-US" u="sng" dirty="0">
                <a:hlinkClick r:id="rId3"/>
              </a:rPr>
              <a:t>data</a:t>
            </a:r>
            <a:r>
              <a:rPr lang="en-US" dirty="0"/>
              <a:t> in enterprise systems, based on internal data standards and policies that also control data usage. Effective data governance ensures that data is consistent and trustworthy and doesn't get misused. It's increasingly critical as organizations face new data privacy regulations and rely more and more on data analytics to help optimize operations and drive business decision-making</a:t>
            </a:r>
            <a:endParaRPr lang="en-US" sz="5000" dirty="0"/>
          </a:p>
          <a:p>
            <a:endParaRPr lang="en-US" dirty="0"/>
          </a:p>
        </p:txBody>
      </p:sp>
      <p:pic>
        <p:nvPicPr>
          <p:cNvPr id="4" name="Picture 3">
            <a:extLst>
              <a:ext uri="{FF2B5EF4-FFF2-40B4-BE49-F238E27FC236}">
                <a16:creationId xmlns:a16="http://schemas.microsoft.com/office/drawing/2014/main" id="{BB1D5931-F0E2-4550-B52E-361840086092}"/>
              </a:ext>
            </a:extLst>
          </p:cNvPr>
          <p:cNvPicPr>
            <a:picLocks noChangeAspect="1"/>
          </p:cNvPicPr>
          <p:nvPr/>
        </p:nvPicPr>
        <p:blipFill>
          <a:blip r:embed="rId4"/>
          <a:stretch>
            <a:fillRect/>
          </a:stretch>
        </p:blipFill>
        <p:spPr>
          <a:xfrm>
            <a:off x="76824" y="0"/>
            <a:ext cx="612943" cy="580103"/>
          </a:xfrm>
          <a:prstGeom prst="rect">
            <a:avLst/>
          </a:prstGeom>
        </p:spPr>
      </p:pic>
      <p:sp>
        <p:nvSpPr>
          <p:cNvPr id="5" name="TextBox 4">
            <a:extLst>
              <a:ext uri="{FF2B5EF4-FFF2-40B4-BE49-F238E27FC236}">
                <a16:creationId xmlns:a16="http://schemas.microsoft.com/office/drawing/2014/main" id="{55E4C80B-047A-4B9D-BC81-EA89F3FED77C}"/>
              </a:ext>
            </a:extLst>
          </p:cNvPr>
          <p:cNvSpPr txBox="1"/>
          <p:nvPr/>
        </p:nvSpPr>
        <p:spPr>
          <a:xfrm>
            <a:off x="7133958" y="6503852"/>
            <a:ext cx="4913525" cy="261610"/>
          </a:xfrm>
          <a:prstGeom prst="rect">
            <a:avLst/>
          </a:prstGeom>
          <a:noFill/>
        </p:spPr>
        <p:txBody>
          <a:bodyPr wrap="none" rtlCol="0">
            <a:spAutoFit/>
          </a:bodyPr>
          <a:lstStyle/>
          <a:p>
            <a:r>
              <a:rPr lang="en-US" sz="1100" dirty="0"/>
              <a:t>https://www.techtarget.com/searchdatamanagement/definition/data-governance</a:t>
            </a:r>
          </a:p>
        </p:txBody>
      </p:sp>
      <p:pic>
        <p:nvPicPr>
          <p:cNvPr id="6" name="Picture 5">
            <a:extLst>
              <a:ext uri="{FF2B5EF4-FFF2-40B4-BE49-F238E27FC236}">
                <a16:creationId xmlns:a16="http://schemas.microsoft.com/office/drawing/2014/main" id="{A72199F9-90C7-4871-B167-1B490316E7DB}"/>
              </a:ext>
            </a:extLst>
          </p:cNvPr>
          <p:cNvPicPr>
            <a:picLocks noChangeAspect="1"/>
          </p:cNvPicPr>
          <p:nvPr/>
        </p:nvPicPr>
        <p:blipFill>
          <a:blip r:embed="rId5"/>
          <a:stretch>
            <a:fillRect/>
          </a:stretch>
        </p:blipFill>
        <p:spPr>
          <a:xfrm>
            <a:off x="1801114" y="2484149"/>
            <a:ext cx="7789606" cy="3953225"/>
          </a:xfrm>
          <a:prstGeom prst="rect">
            <a:avLst/>
          </a:prstGeom>
        </p:spPr>
      </p:pic>
    </p:spTree>
    <p:extLst>
      <p:ext uri="{BB962C8B-B14F-4D97-AF65-F5344CB8AC3E}">
        <p14:creationId xmlns:p14="http://schemas.microsoft.com/office/powerpoint/2010/main" val="4017884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77003-DE48-4A2C-9286-E5401F95090D}"/>
              </a:ext>
            </a:extLst>
          </p:cNvPr>
          <p:cNvSpPr>
            <a:spLocks noGrp="1"/>
          </p:cNvSpPr>
          <p:nvPr>
            <p:ph type="ctrTitle"/>
          </p:nvPr>
        </p:nvSpPr>
        <p:spPr>
          <a:xfrm>
            <a:off x="1673469" y="46537"/>
            <a:ext cx="9144000" cy="731006"/>
          </a:xfrm>
        </p:spPr>
        <p:txBody>
          <a:bodyPr>
            <a:noAutofit/>
          </a:bodyPr>
          <a:lstStyle/>
          <a:p>
            <a:r>
              <a:rPr lang="en-US" sz="4800" dirty="0">
                <a:latin typeface="Agency FB" panose="020B0503020202020204" pitchFamily="34" charset="0"/>
              </a:rPr>
              <a:t>Data governance goals and benefits</a:t>
            </a:r>
          </a:p>
        </p:txBody>
      </p:sp>
      <p:sp>
        <p:nvSpPr>
          <p:cNvPr id="3" name="Subtitle 2">
            <a:extLst>
              <a:ext uri="{FF2B5EF4-FFF2-40B4-BE49-F238E27FC236}">
                <a16:creationId xmlns:a16="http://schemas.microsoft.com/office/drawing/2014/main" id="{F4C4029A-9E69-4157-9429-DA34E7588CF1}"/>
              </a:ext>
            </a:extLst>
          </p:cNvPr>
          <p:cNvSpPr>
            <a:spLocks noGrp="1"/>
          </p:cNvSpPr>
          <p:nvPr>
            <p:ph type="subTitle" idx="1"/>
          </p:nvPr>
        </p:nvSpPr>
        <p:spPr>
          <a:xfrm>
            <a:off x="278928" y="1053026"/>
            <a:ext cx="11646692" cy="4026120"/>
          </a:xfrm>
        </p:spPr>
        <p:txBody>
          <a:bodyPr>
            <a:noAutofit/>
          </a:bodyPr>
          <a:lstStyle/>
          <a:p>
            <a:pPr algn="l"/>
            <a:r>
              <a:rPr lang="en-US" sz="1400" dirty="0"/>
              <a:t>Goals:</a:t>
            </a:r>
          </a:p>
          <a:p>
            <a:pPr marL="285750" indent="-285750" algn="l">
              <a:buFont typeface="Arial" panose="020B0604020202020204" pitchFamily="34" charset="0"/>
              <a:buChar char="•"/>
            </a:pPr>
            <a:r>
              <a:rPr lang="en-US" sz="1400" dirty="0"/>
              <a:t>To break down data silos in an organization and make sure there is a common language/terms through out the company. </a:t>
            </a:r>
          </a:p>
          <a:p>
            <a:pPr marL="285750" indent="-285750" algn="l">
              <a:buFont typeface="Arial" panose="020B0604020202020204" pitchFamily="34" charset="0"/>
              <a:buChar char="•"/>
            </a:pPr>
            <a:r>
              <a:rPr lang="en-US" sz="1400" dirty="0"/>
              <a:t>To guarantee data integrity and naming conventions.</a:t>
            </a:r>
          </a:p>
          <a:p>
            <a:pPr marL="285750" indent="-285750" algn="l">
              <a:buFont typeface="Arial" panose="020B0604020202020204" pitchFamily="34" charset="0"/>
              <a:buChar char="•"/>
            </a:pPr>
            <a:r>
              <a:rPr lang="en-US" sz="1400" dirty="0"/>
              <a:t>To ensure that data is used properly, both to avoid introducing data errors into systems and to block potential misuse of personal data about customers and other sensitive information. </a:t>
            </a:r>
          </a:p>
          <a:p>
            <a:pPr marL="285750" indent="-285750" algn="l">
              <a:buFont typeface="Arial" panose="020B0604020202020204" pitchFamily="34" charset="0"/>
              <a:buChar char="•"/>
            </a:pPr>
            <a:r>
              <a:rPr lang="en-US" sz="1400" dirty="0"/>
              <a:t>Data governance can help to strike a balance between data collection practices and privacy mandates.</a:t>
            </a:r>
          </a:p>
          <a:p>
            <a:pPr algn="l"/>
            <a:r>
              <a:rPr lang="en-US" sz="1400" dirty="0"/>
              <a:t>Benefits:</a:t>
            </a:r>
          </a:p>
          <a:p>
            <a:pPr marL="285750" indent="-285750" algn="l">
              <a:buFont typeface="Arial" panose="020B0604020202020204" pitchFamily="34" charset="0"/>
              <a:buChar char="•"/>
            </a:pPr>
            <a:r>
              <a:rPr lang="en-US" sz="1400" dirty="0"/>
              <a:t>Accurate analytics, stronger regulatory compliance, improved data quality; lower data management costs; and increased access to needed data for data scientists, other analysts and business users.</a:t>
            </a:r>
          </a:p>
          <a:p>
            <a:pPr marL="285750" indent="-285750" algn="l">
              <a:buFont typeface="Arial" panose="020B0604020202020204" pitchFamily="34" charset="0"/>
              <a:buChar char="•"/>
            </a:pPr>
            <a:r>
              <a:rPr lang="en-US" sz="1400" dirty="0"/>
              <a:t>Ultimately, data governance can help improve business decision-making by giving executives better information. Ideally, that will lead to competitive advantages and increased revenue and profits.</a:t>
            </a:r>
          </a:p>
        </p:txBody>
      </p:sp>
      <p:pic>
        <p:nvPicPr>
          <p:cNvPr id="4" name="Picture 3">
            <a:extLst>
              <a:ext uri="{FF2B5EF4-FFF2-40B4-BE49-F238E27FC236}">
                <a16:creationId xmlns:a16="http://schemas.microsoft.com/office/drawing/2014/main" id="{BB1D5931-F0E2-4550-B52E-361840086092}"/>
              </a:ext>
            </a:extLst>
          </p:cNvPr>
          <p:cNvPicPr>
            <a:picLocks noChangeAspect="1"/>
          </p:cNvPicPr>
          <p:nvPr/>
        </p:nvPicPr>
        <p:blipFill>
          <a:blip r:embed="rId3"/>
          <a:stretch>
            <a:fillRect/>
          </a:stretch>
        </p:blipFill>
        <p:spPr>
          <a:xfrm>
            <a:off x="116153" y="46537"/>
            <a:ext cx="638639" cy="604422"/>
          </a:xfrm>
          <a:prstGeom prst="rect">
            <a:avLst/>
          </a:prstGeom>
        </p:spPr>
      </p:pic>
      <p:sp>
        <p:nvSpPr>
          <p:cNvPr id="5" name="Rectangle 4">
            <a:extLst>
              <a:ext uri="{FF2B5EF4-FFF2-40B4-BE49-F238E27FC236}">
                <a16:creationId xmlns:a16="http://schemas.microsoft.com/office/drawing/2014/main" id="{F87645E4-DD43-407B-B49F-77F6B8C019EC}"/>
              </a:ext>
            </a:extLst>
          </p:cNvPr>
          <p:cNvSpPr/>
          <p:nvPr/>
        </p:nvSpPr>
        <p:spPr>
          <a:xfrm>
            <a:off x="6096000" y="6295795"/>
            <a:ext cx="6096000" cy="307777"/>
          </a:xfrm>
          <a:prstGeom prst="rect">
            <a:avLst/>
          </a:prstGeom>
        </p:spPr>
        <p:txBody>
          <a:bodyPr>
            <a:spAutoFit/>
          </a:bodyPr>
          <a:lstStyle/>
          <a:p>
            <a:endParaRPr lang="en-US" sz="1400" b="0" i="0" dirty="0">
              <a:solidFill>
                <a:srgbClr val="111111"/>
              </a:solidFill>
              <a:effectLst/>
              <a:latin typeface="Roboto"/>
            </a:endParaRPr>
          </a:p>
        </p:txBody>
      </p:sp>
    </p:spTree>
    <p:extLst>
      <p:ext uri="{BB962C8B-B14F-4D97-AF65-F5344CB8AC3E}">
        <p14:creationId xmlns:p14="http://schemas.microsoft.com/office/powerpoint/2010/main" val="28571981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77003-DE48-4A2C-9286-E5401F95090D}"/>
              </a:ext>
            </a:extLst>
          </p:cNvPr>
          <p:cNvSpPr>
            <a:spLocks noGrp="1"/>
          </p:cNvSpPr>
          <p:nvPr>
            <p:ph type="ctrTitle"/>
          </p:nvPr>
        </p:nvSpPr>
        <p:spPr>
          <a:xfrm>
            <a:off x="1524000" y="0"/>
            <a:ext cx="9144000" cy="1367477"/>
          </a:xfrm>
        </p:spPr>
        <p:txBody>
          <a:bodyPr>
            <a:noAutofit/>
          </a:bodyPr>
          <a:lstStyle/>
          <a:p>
            <a:r>
              <a:rPr lang="en-US" sz="4800" dirty="0">
                <a:latin typeface="Agency FB" panose="020B0503020202020204" pitchFamily="34" charset="0"/>
              </a:rPr>
              <a:t>management of data X ensuring data is managed</a:t>
            </a:r>
          </a:p>
        </p:txBody>
      </p:sp>
      <p:sp>
        <p:nvSpPr>
          <p:cNvPr id="3" name="Subtitle 2">
            <a:extLst>
              <a:ext uri="{FF2B5EF4-FFF2-40B4-BE49-F238E27FC236}">
                <a16:creationId xmlns:a16="http://schemas.microsoft.com/office/drawing/2014/main" id="{F4C4029A-9E69-4157-9429-DA34E7588CF1}"/>
              </a:ext>
            </a:extLst>
          </p:cNvPr>
          <p:cNvSpPr>
            <a:spLocks noGrp="1"/>
          </p:cNvSpPr>
          <p:nvPr>
            <p:ph type="subTitle" idx="1"/>
          </p:nvPr>
        </p:nvSpPr>
        <p:spPr>
          <a:xfrm>
            <a:off x="325382" y="1555018"/>
            <a:ext cx="11734295" cy="940145"/>
          </a:xfrm>
        </p:spPr>
        <p:txBody>
          <a:bodyPr>
            <a:normAutofit/>
          </a:bodyPr>
          <a:lstStyle/>
          <a:p>
            <a:pPr algn="l"/>
            <a:r>
              <a:rPr lang="en-US" sz="2000" dirty="0"/>
              <a:t>“Data governance is the organization and implementation of policies, procedures, structure, roles, and responsibilities which outline and enforce rules of engagement, decision rights, and accountabilities for the effective management of information assets.” </a:t>
            </a:r>
          </a:p>
        </p:txBody>
      </p:sp>
      <p:pic>
        <p:nvPicPr>
          <p:cNvPr id="4" name="Picture 3">
            <a:extLst>
              <a:ext uri="{FF2B5EF4-FFF2-40B4-BE49-F238E27FC236}">
                <a16:creationId xmlns:a16="http://schemas.microsoft.com/office/drawing/2014/main" id="{BB1D5931-F0E2-4550-B52E-361840086092}"/>
              </a:ext>
            </a:extLst>
          </p:cNvPr>
          <p:cNvPicPr>
            <a:picLocks noChangeAspect="1"/>
          </p:cNvPicPr>
          <p:nvPr/>
        </p:nvPicPr>
        <p:blipFill>
          <a:blip r:embed="rId3"/>
          <a:stretch>
            <a:fillRect/>
          </a:stretch>
        </p:blipFill>
        <p:spPr>
          <a:xfrm>
            <a:off x="0" y="74798"/>
            <a:ext cx="650764" cy="615897"/>
          </a:xfrm>
          <a:prstGeom prst="rect">
            <a:avLst/>
          </a:prstGeom>
        </p:spPr>
      </p:pic>
      <p:pic>
        <p:nvPicPr>
          <p:cNvPr id="6" name="Picture 5">
            <a:extLst>
              <a:ext uri="{FF2B5EF4-FFF2-40B4-BE49-F238E27FC236}">
                <a16:creationId xmlns:a16="http://schemas.microsoft.com/office/drawing/2014/main" id="{F37F7182-EB01-4B86-9544-1DB792F96045}"/>
              </a:ext>
            </a:extLst>
          </p:cNvPr>
          <p:cNvPicPr/>
          <p:nvPr/>
        </p:nvPicPr>
        <p:blipFill rotWithShape="1">
          <a:blip r:embed="rId4"/>
          <a:srcRect l="63462" t="15727" r="15598" b="21709"/>
          <a:stretch/>
        </p:blipFill>
        <p:spPr bwMode="auto">
          <a:xfrm>
            <a:off x="7560165" y="2595909"/>
            <a:ext cx="3511550" cy="3278505"/>
          </a:xfrm>
          <a:prstGeom prst="rect">
            <a:avLst/>
          </a:prstGeom>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9C4CE567-D337-4993-A81F-3365A221B66E}"/>
              </a:ext>
            </a:extLst>
          </p:cNvPr>
          <p:cNvSpPr txBox="1"/>
          <p:nvPr/>
        </p:nvSpPr>
        <p:spPr>
          <a:xfrm>
            <a:off x="261257" y="2841798"/>
            <a:ext cx="6108807" cy="2031325"/>
          </a:xfrm>
          <a:prstGeom prst="rect">
            <a:avLst/>
          </a:prstGeom>
          <a:noFill/>
        </p:spPr>
        <p:txBody>
          <a:bodyPr wrap="square" rtlCol="0">
            <a:spAutoFit/>
          </a:bodyPr>
          <a:lstStyle/>
          <a:p>
            <a:pPr marL="285750" indent="-285750">
              <a:buFont typeface="Arial" panose="020B0604020202020204" pitchFamily="34" charset="0"/>
              <a:buChar char="•"/>
            </a:pPr>
            <a:r>
              <a:rPr lang="en-US" dirty="0"/>
              <a:t>Data governance is NOT a function performed by those who manage information. </a:t>
            </a:r>
          </a:p>
          <a:p>
            <a:pPr marL="285750" indent="-285750">
              <a:buFont typeface="Arial" panose="020B0604020202020204" pitchFamily="34" charset="0"/>
              <a:buChar char="•"/>
            </a:pPr>
            <a:r>
              <a:rPr lang="en-US" dirty="0"/>
              <a:t>The left side of the “V” id DG and the right side is Information Management (IM)</a:t>
            </a:r>
          </a:p>
          <a:p>
            <a:pPr marL="285750" indent="-285750">
              <a:buFont typeface="Arial" panose="020B0604020202020204" pitchFamily="34" charset="0"/>
              <a:buChar char="•"/>
            </a:pPr>
            <a:r>
              <a:rPr lang="en-US" dirty="0"/>
              <a:t>Ideally, there must always be a separation of duties between those who manage and those who govern</a:t>
            </a:r>
          </a:p>
          <a:p>
            <a:pPr marL="285750" indent="-285750">
              <a:buFont typeface="Arial" panose="020B0604020202020204" pitchFamily="34" charset="0"/>
              <a:buChar char="•"/>
            </a:pPr>
            <a:r>
              <a:rPr lang="en-US" dirty="0"/>
              <a:t>Parallel to managers and auditors</a:t>
            </a:r>
          </a:p>
        </p:txBody>
      </p:sp>
      <p:pic>
        <p:nvPicPr>
          <p:cNvPr id="7" name="Picture 6">
            <a:extLst>
              <a:ext uri="{FF2B5EF4-FFF2-40B4-BE49-F238E27FC236}">
                <a16:creationId xmlns:a16="http://schemas.microsoft.com/office/drawing/2014/main" id="{D059EC17-E920-4852-93AC-F9C2929A8099}"/>
              </a:ext>
            </a:extLst>
          </p:cNvPr>
          <p:cNvPicPr>
            <a:picLocks noChangeAspect="1"/>
          </p:cNvPicPr>
          <p:nvPr/>
        </p:nvPicPr>
        <p:blipFill>
          <a:blip r:embed="rId5"/>
          <a:stretch>
            <a:fillRect/>
          </a:stretch>
        </p:blipFill>
        <p:spPr>
          <a:xfrm>
            <a:off x="4721812" y="4412389"/>
            <a:ext cx="1133421" cy="1614737"/>
          </a:xfrm>
          <a:prstGeom prst="rect">
            <a:avLst/>
          </a:prstGeom>
        </p:spPr>
      </p:pic>
    </p:spTree>
    <p:extLst>
      <p:ext uri="{BB962C8B-B14F-4D97-AF65-F5344CB8AC3E}">
        <p14:creationId xmlns:p14="http://schemas.microsoft.com/office/powerpoint/2010/main" val="2883238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77003-DE48-4A2C-9286-E5401F95090D}"/>
              </a:ext>
            </a:extLst>
          </p:cNvPr>
          <p:cNvSpPr>
            <a:spLocks noGrp="1"/>
          </p:cNvSpPr>
          <p:nvPr>
            <p:ph type="ctrTitle"/>
          </p:nvPr>
        </p:nvSpPr>
        <p:spPr>
          <a:xfrm>
            <a:off x="1524000" y="351016"/>
            <a:ext cx="9144000" cy="477837"/>
          </a:xfrm>
        </p:spPr>
        <p:txBody>
          <a:bodyPr>
            <a:noAutofit/>
          </a:bodyPr>
          <a:lstStyle/>
          <a:p>
            <a:r>
              <a:rPr lang="en-US" sz="4800" dirty="0">
                <a:latin typeface="Agency FB" panose="020B0503020202020204" pitchFamily="34" charset="0"/>
              </a:rPr>
              <a:t>The Scope of Data Governance</a:t>
            </a:r>
          </a:p>
        </p:txBody>
      </p:sp>
      <p:sp>
        <p:nvSpPr>
          <p:cNvPr id="3" name="Subtitle 2">
            <a:extLst>
              <a:ext uri="{FF2B5EF4-FFF2-40B4-BE49-F238E27FC236}">
                <a16:creationId xmlns:a16="http://schemas.microsoft.com/office/drawing/2014/main" id="{F4C4029A-9E69-4157-9429-DA34E7588CF1}"/>
              </a:ext>
            </a:extLst>
          </p:cNvPr>
          <p:cNvSpPr>
            <a:spLocks noGrp="1"/>
          </p:cNvSpPr>
          <p:nvPr>
            <p:ph type="subTitle" idx="1"/>
          </p:nvPr>
        </p:nvSpPr>
        <p:spPr>
          <a:xfrm>
            <a:off x="736128" y="1520379"/>
            <a:ext cx="9144000" cy="1422532"/>
          </a:xfrm>
        </p:spPr>
        <p:txBody>
          <a:bodyPr>
            <a:normAutofit/>
          </a:bodyPr>
          <a:lstStyle/>
          <a:p>
            <a:endParaRPr lang="en-US" dirty="0"/>
          </a:p>
          <a:p>
            <a:endParaRPr lang="en-US" dirty="0"/>
          </a:p>
          <a:p>
            <a:endParaRPr lang="en-US" dirty="0"/>
          </a:p>
          <a:p>
            <a:endParaRPr lang="en-US" dirty="0"/>
          </a:p>
          <a:p>
            <a:endParaRPr lang="en-US" dirty="0"/>
          </a:p>
        </p:txBody>
      </p:sp>
      <p:pic>
        <p:nvPicPr>
          <p:cNvPr id="4" name="Picture 3">
            <a:extLst>
              <a:ext uri="{FF2B5EF4-FFF2-40B4-BE49-F238E27FC236}">
                <a16:creationId xmlns:a16="http://schemas.microsoft.com/office/drawing/2014/main" id="{BB1D5931-F0E2-4550-B52E-361840086092}"/>
              </a:ext>
            </a:extLst>
          </p:cNvPr>
          <p:cNvPicPr>
            <a:picLocks noChangeAspect="1"/>
          </p:cNvPicPr>
          <p:nvPr/>
        </p:nvPicPr>
        <p:blipFill>
          <a:blip r:embed="rId3"/>
          <a:stretch>
            <a:fillRect/>
          </a:stretch>
        </p:blipFill>
        <p:spPr>
          <a:xfrm>
            <a:off x="96488" y="48331"/>
            <a:ext cx="639640" cy="605369"/>
          </a:xfrm>
          <a:prstGeom prst="rect">
            <a:avLst/>
          </a:prstGeom>
        </p:spPr>
      </p:pic>
      <p:sp>
        <p:nvSpPr>
          <p:cNvPr id="6" name="Rectangle 5">
            <a:extLst>
              <a:ext uri="{FF2B5EF4-FFF2-40B4-BE49-F238E27FC236}">
                <a16:creationId xmlns:a16="http://schemas.microsoft.com/office/drawing/2014/main" id="{32819B1F-FCF8-430D-8804-A95A53541B52}"/>
              </a:ext>
            </a:extLst>
          </p:cNvPr>
          <p:cNvSpPr/>
          <p:nvPr/>
        </p:nvSpPr>
        <p:spPr>
          <a:xfrm>
            <a:off x="1524000" y="1951672"/>
            <a:ext cx="8407872" cy="584775"/>
          </a:xfrm>
          <a:prstGeom prst="rect">
            <a:avLst/>
          </a:prstGeom>
        </p:spPr>
        <p:txBody>
          <a:bodyPr wrap="square">
            <a:spAutoFit/>
          </a:bodyPr>
          <a:lstStyle/>
          <a:p>
            <a:pPr marL="457200" indent="-457200">
              <a:buFont typeface="Arial" panose="020B0604020202020204" pitchFamily="34" charset="0"/>
              <a:buChar char="•"/>
            </a:pPr>
            <a:endParaRPr lang="en-US" sz="3200" dirty="0"/>
          </a:p>
        </p:txBody>
      </p:sp>
      <p:sp>
        <p:nvSpPr>
          <p:cNvPr id="5" name="TextBox 4">
            <a:extLst>
              <a:ext uri="{FF2B5EF4-FFF2-40B4-BE49-F238E27FC236}">
                <a16:creationId xmlns:a16="http://schemas.microsoft.com/office/drawing/2014/main" id="{019F1DE9-BB85-4DBA-8AE5-70E2E00934A0}"/>
              </a:ext>
            </a:extLst>
          </p:cNvPr>
          <p:cNvSpPr txBox="1"/>
          <p:nvPr/>
        </p:nvSpPr>
        <p:spPr>
          <a:xfrm>
            <a:off x="168736" y="1345226"/>
            <a:ext cx="11854527" cy="1477328"/>
          </a:xfrm>
          <a:prstGeom prst="rect">
            <a:avLst/>
          </a:prstGeom>
          <a:noFill/>
        </p:spPr>
        <p:txBody>
          <a:bodyPr wrap="none" rtlCol="0">
            <a:spAutoFit/>
          </a:bodyPr>
          <a:lstStyle/>
          <a:p>
            <a:r>
              <a:rPr lang="en-US" dirty="0"/>
              <a:t>• Business model—The type of organization, its corporate hierarchy, and its operating environment.</a:t>
            </a:r>
          </a:p>
          <a:p>
            <a:endParaRPr lang="en-US" dirty="0"/>
          </a:p>
          <a:p>
            <a:r>
              <a:rPr lang="en-US" dirty="0"/>
              <a:t>• Content being governed—The type of content (data, information, documents, etc.), its location, and its business relevance.</a:t>
            </a:r>
          </a:p>
          <a:p>
            <a:endParaRPr lang="en-US" dirty="0"/>
          </a:p>
          <a:p>
            <a:r>
              <a:rPr lang="en-US" dirty="0"/>
              <a:t>• Degree of federation—The extent or intensity by which different content is governed.</a:t>
            </a:r>
          </a:p>
        </p:txBody>
      </p:sp>
      <p:pic>
        <p:nvPicPr>
          <p:cNvPr id="7" name="Picture 6">
            <a:extLst>
              <a:ext uri="{FF2B5EF4-FFF2-40B4-BE49-F238E27FC236}">
                <a16:creationId xmlns:a16="http://schemas.microsoft.com/office/drawing/2014/main" id="{2A432337-2B4B-466C-B3C6-D8E0CB541DBF}"/>
              </a:ext>
            </a:extLst>
          </p:cNvPr>
          <p:cNvPicPr>
            <a:picLocks noChangeAspect="1"/>
          </p:cNvPicPr>
          <p:nvPr/>
        </p:nvPicPr>
        <p:blipFill>
          <a:blip r:embed="rId4"/>
          <a:stretch>
            <a:fillRect/>
          </a:stretch>
        </p:blipFill>
        <p:spPr>
          <a:xfrm>
            <a:off x="7684502" y="3374204"/>
            <a:ext cx="4170025" cy="3395766"/>
          </a:xfrm>
          <a:prstGeom prst="rect">
            <a:avLst/>
          </a:prstGeom>
        </p:spPr>
      </p:pic>
      <p:cxnSp>
        <p:nvCxnSpPr>
          <p:cNvPr id="13" name="Connector: Curved 12">
            <a:extLst>
              <a:ext uri="{FF2B5EF4-FFF2-40B4-BE49-F238E27FC236}">
                <a16:creationId xmlns:a16="http://schemas.microsoft.com/office/drawing/2014/main" id="{8DE510C2-008A-4A0B-A7A0-0EF9715DFD9F}"/>
              </a:ext>
            </a:extLst>
          </p:cNvPr>
          <p:cNvCxnSpPr/>
          <p:nvPr/>
        </p:nvCxnSpPr>
        <p:spPr>
          <a:xfrm>
            <a:off x="6831107" y="3639340"/>
            <a:ext cx="914400" cy="9144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26ECBE65-D709-4031-9662-E7740F63C899}"/>
              </a:ext>
            </a:extLst>
          </p:cNvPr>
          <p:cNvSpPr txBox="1"/>
          <p:nvPr/>
        </p:nvSpPr>
        <p:spPr>
          <a:xfrm>
            <a:off x="5531169" y="3295915"/>
            <a:ext cx="1922578" cy="369332"/>
          </a:xfrm>
          <a:prstGeom prst="rect">
            <a:avLst/>
          </a:prstGeom>
          <a:noFill/>
        </p:spPr>
        <p:txBody>
          <a:bodyPr wrap="none" rtlCol="0">
            <a:spAutoFit/>
          </a:bodyPr>
          <a:lstStyle/>
          <a:p>
            <a:r>
              <a:rPr lang="en-US" dirty="0"/>
              <a:t> </a:t>
            </a:r>
            <a:r>
              <a:rPr lang="en-US" sz="1400" dirty="0"/>
              <a:t>Assignment of DG roles</a:t>
            </a:r>
          </a:p>
        </p:txBody>
      </p:sp>
    </p:spTree>
    <p:extLst>
      <p:ext uri="{BB962C8B-B14F-4D97-AF65-F5344CB8AC3E}">
        <p14:creationId xmlns:p14="http://schemas.microsoft.com/office/powerpoint/2010/main" val="21461784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77003-DE48-4A2C-9286-E5401F95090D}"/>
              </a:ext>
            </a:extLst>
          </p:cNvPr>
          <p:cNvSpPr>
            <a:spLocks noGrp="1"/>
          </p:cNvSpPr>
          <p:nvPr>
            <p:ph type="ctrTitle"/>
          </p:nvPr>
        </p:nvSpPr>
        <p:spPr>
          <a:xfrm>
            <a:off x="1524000" y="351016"/>
            <a:ext cx="9144000" cy="477837"/>
          </a:xfrm>
        </p:spPr>
        <p:txBody>
          <a:bodyPr>
            <a:noAutofit/>
          </a:bodyPr>
          <a:lstStyle/>
          <a:p>
            <a:r>
              <a:rPr lang="en-US" sz="4800">
                <a:latin typeface="Agency FB" panose="020B0503020202020204" pitchFamily="34" charset="0"/>
              </a:rPr>
              <a:t>Who's responsible for data governance?</a:t>
            </a:r>
            <a:endParaRPr lang="en-US" sz="4800" dirty="0">
              <a:latin typeface="Agency FB" panose="020B0503020202020204" pitchFamily="34" charset="0"/>
            </a:endParaRPr>
          </a:p>
        </p:txBody>
      </p:sp>
      <p:sp>
        <p:nvSpPr>
          <p:cNvPr id="3" name="Subtitle 2">
            <a:extLst>
              <a:ext uri="{FF2B5EF4-FFF2-40B4-BE49-F238E27FC236}">
                <a16:creationId xmlns:a16="http://schemas.microsoft.com/office/drawing/2014/main" id="{F4C4029A-9E69-4157-9429-DA34E7588CF1}"/>
              </a:ext>
            </a:extLst>
          </p:cNvPr>
          <p:cNvSpPr>
            <a:spLocks noGrp="1"/>
          </p:cNvSpPr>
          <p:nvPr>
            <p:ph type="subTitle" idx="1"/>
          </p:nvPr>
        </p:nvSpPr>
        <p:spPr>
          <a:xfrm>
            <a:off x="736128" y="1520379"/>
            <a:ext cx="9144000" cy="1422532"/>
          </a:xfrm>
        </p:spPr>
        <p:txBody>
          <a:bodyPr>
            <a:normAutofit/>
          </a:bodyPr>
          <a:lstStyle/>
          <a:p>
            <a:endParaRPr lang="en-US"/>
          </a:p>
          <a:p>
            <a:endParaRPr lang="en-US"/>
          </a:p>
          <a:p>
            <a:endParaRPr lang="en-US"/>
          </a:p>
          <a:p>
            <a:endParaRPr lang="en-US"/>
          </a:p>
          <a:p>
            <a:endParaRPr lang="en-US" dirty="0"/>
          </a:p>
        </p:txBody>
      </p:sp>
      <p:pic>
        <p:nvPicPr>
          <p:cNvPr id="4" name="Picture 3">
            <a:extLst>
              <a:ext uri="{FF2B5EF4-FFF2-40B4-BE49-F238E27FC236}">
                <a16:creationId xmlns:a16="http://schemas.microsoft.com/office/drawing/2014/main" id="{BB1D5931-F0E2-4550-B52E-361840086092}"/>
              </a:ext>
            </a:extLst>
          </p:cNvPr>
          <p:cNvPicPr>
            <a:picLocks noChangeAspect="1"/>
          </p:cNvPicPr>
          <p:nvPr/>
        </p:nvPicPr>
        <p:blipFill>
          <a:blip r:embed="rId3"/>
          <a:stretch>
            <a:fillRect/>
          </a:stretch>
        </p:blipFill>
        <p:spPr>
          <a:xfrm>
            <a:off x="96488" y="48331"/>
            <a:ext cx="639640" cy="605369"/>
          </a:xfrm>
          <a:prstGeom prst="rect">
            <a:avLst/>
          </a:prstGeom>
        </p:spPr>
      </p:pic>
      <p:sp>
        <p:nvSpPr>
          <p:cNvPr id="6" name="Rectangle 5">
            <a:extLst>
              <a:ext uri="{FF2B5EF4-FFF2-40B4-BE49-F238E27FC236}">
                <a16:creationId xmlns:a16="http://schemas.microsoft.com/office/drawing/2014/main" id="{32819B1F-FCF8-430D-8804-A95A53541B52}"/>
              </a:ext>
            </a:extLst>
          </p:cNvPr>
          <p:cNvSpPr/>
          <p:nvPr/>
        </p:nvSpPr>
        <p:spPr>
          <a:xfrm>
            <a:off x="1524000" y="1951672"/>
            <a:ext cx="8407872" cy="584775"/>
          </a:xfrm>
          <a:prstGeom prst="rect">
            <a:avLst/>
          </a:prstGeom>
        </p:spPr>
        <p:txBody>
          <a:bodyPr wrap="square">
            <a:spAutoFit/>
          </a:bodyPr>
          <a:lstStyle/>
          <a:p>
            <a:pPr marL="457200" indent="-457200">
              <a:buFont typeface="Arial" panose="020B0604020202020204" pitchFamily="34" charset="0"/>
              <a:buChar char="•"/>
            </a:pPr>
            <a:endParaRPr lang="en-US" sz="3200" dirty="0"/>
          </a:p>
        </p:txBody>
      </p:sp>
      <p:pic>
        <p:nvPicPr>
          <p:cNvPr id="5" name="Picture 4">
            <a:extLst>
              <a:ext uri="{FF2B5EF4-FFF2-40B4-BE49-F238E27FC236}">
                <a16:creationId xmlns:a16="http://schemas.microsoft.com/office/drawing/2014/main" id="{315A9723-E2DA-4537-888B-12FF9B9B6BB7}"/>
              </a:ext>
            </a:extLst>
          </p:cNvPr>
          <p:cNvPicPr>
            <a:picLocks noChangeAspect="1"/>
          </p:cNvPicPr>
          <p:nvPr/>
        </p:nvPicPr>
        <p:blipFill>
          <a:blip r:embed="rId4"/>
          <a:stretch>
            <a:fillRect/>
          </a:stretch>
        </p:blipFill>
        <p:spPr>
          <a:xfrm>
            <a:off x="2010050" y="1125945"/>
            <a:ext cx="8709693" cy="5574203"/>
          </a:xfrm>
          <a:prstGeom prst="rect">
            <a:avLst/>
          </a:prstGeom>
        </p:spPr>
      </p:pic>
    </p:spTree>
    <p:extLst>
      <p:ext uri="{BB962C8B-B14F-4D97-AF65-F5344CB8AC3E}">
        <p14:creationId xmlns:p14="http://schemas.microsoft.com/office/powerpoint/2010/main" val="427998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E2817A69D76E24F86F8DCD26645BFC2" ma:contentTypeVersion="16" ma:contentTypeDescription="Create a new document." ma:contentTypeScope="" ma:versionID="b5d5a610ddedfd3a16d64ca025027d01">
  <xsd:schema xmlns:xsd="http://www.w3.org/2001/XMLSchema" xmlns:xs="http://www.w3.org/2001/XMLSchema" xmlns:p="http://schemas.microsoft.com/office/2006/metadata/properties" xmlns:ns1="http://schemas.microsoft.com/sharepoint/v3" xmlns:ns3="3444c6f0-6957-40bf-ba3e-61179e0a52bf" xmlns:ns4="9326538b-53e6-4a42-9c2e-afeb59dfb695" targetNamespace="http://schemas.microsoft.com/office/2006/metadata/properties" ma:root="true" ma:fieldsID="d4a163d6ddf0a231b2bbe632088b0e4c" ns1:_="" ns3:_="" ns4:_="">
    <xsd:import namespace="http://schemas.microsoft.com/sharepoint/v3"/>
    <xsd:import namespace="3444c6f0-6957-40bf-ba3e-61179e0a52bf"/>
    <xsd:import namespace="9326538b-53e6-4a42-9c2e-afeb59dfb695"/>
    <xsd:element name="properties">
      <xsd:complexType>
        <xsd:sequence>
          <xsd:element name="documentManagement">
            <xsd:complexType>
              <xsd:all>
                <xsd:element ref="ns3:MediaServiceMetadata" minOccurs="0"/>
                <xsd:element ref="ns3:MediaServiceFastMetadata" minOccurs="0"/>
                <xsd:element ref="ns4:SharedWithUsers" minOccurs="0"/>
                <xsd:element ref="ns3:MediaServiceAutoTags" minOccurs="0"/>
                <xsd:element ref="ns4:SharedWithDetails" minOccurs="0"/>
                <xsd:element ref="ns4:SharingHintHash" minOccurs="0"/>
                <xsd:element ref="ns1:_ip_UnifiedCompliancePolicyProperties" minOccurs="0"/>
                <xsd:element ref="ns1:_ip_UnifiedCompliancePolicyUIAction" minOccurs="0"/>
                <xsd:element ref="ns3:MediaServiceOCR" minOccurs="0"/>
                <xsd:element ref="ns3:MediaServiceEventHashCode" minOccurs="0"/>
                <xsd:element ref="ns3:MediaServiceGenerationTime" minOccurs="0"/>
                <xsd:element ref="ns3:MediaServiceDateTaken" minOccurs="0"/>
                <xsd:element ref="ns3:MediaServiceLocation"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4" nillable="true" ma:displayName="Unified Compliance Policy Properties" ma:hidden="true" ma:internalName="_ip_UnifiedCompliancePolicyProperties">
      <xsd:simpleType>
        <xsd:restriction base="dms:Note"/>
      </xsd:simpleType>
    </xsd:element>
    <xsd:element name="_ip_UnifiedCompliancePolicyUIAction" ma:index="1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444c6f0-6957-40bf-ba3e-61179e0a52bf"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Tags" ma:index="11" nillable="true" ma:displayName="MediaServiceAutoTags" ma:internalName="MediaServiceAutoTags" ma:readOnly="true">
      <xsd:simpleType>
        <xsd:restriction base="dms:Text"/>
      </xsd:simpleType>
    </xsd:element>
    <xsd:element name="MediaServiceOCR" ma:index="16" nillable="true" ma:displayName="MediaServiceOCR" ma:internalName="MediaServiceOCR" ma:readOnly="true">
      <xsd:simpleType>
        <xsd:restriction base="dms:Note">
          <xsd:maxLength value="255"/>
        </xsd:restriction>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326538b-53e6-4a42-9c2e-afeb59dfb695" elementFormDefault="qualified">
    <xsd:import namespace="http://schemas.microsoft.com/office/2006/documentManagement/types"/>
    <xsd:import namespace="http://schemas.microsoft.com/office/infopath/2007/PartnerControls"/>
    <xsd:element name="SharedWithUsers" ma:index="10"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23857C1-8530-4402-9BD6-DE38C6FFED02}">
  <ds:schemaRefs>
    <ds:schemaRef ds:uri="http://schemas.openxmlformats.org/package/2006/metadata/core-properties"/>
    <ds:schemaRef ds:uri="http://schemas.microsoft.com/sharepoint/v3"/>
    <ds:schemaRef ds:uri="http://purl.org/dc/terms/"/>
    <ds:schemaRef ds:uri="http://schemas.microsoft.com/office/2006/documentManagement/types"/>
    <ds:schemaRef ds:uri="http://schemas.microsoft.com/office/infopath/2007/PartnerControls"/>
    <ds:schemaRef ds:uri="3444c6f0-6957-40bf-ba3e-61179e0a52bf"/>
    <ds:schemaRef ds:uri="9326538b-53e6-4a42-9c2e-afeb59dfb695"/>
    <ds:schemaRef ds:uri="http://purl.org/dc/elements/1.1/"/>
    <ds:schemaRef ds:uri="http://schemas.microsoft.com/office/2006/metadata/properties"/>
    <ds:schemaRef ds:uri="http://www.w3.org/XML/1998/namespace"/>
    <ds:schemaRef ds:uri="http://purl.org/dc/dcmitype/"/>
  </ds:schemaRefs>
</ds:datastoreItem>
</file>

<file path=customXml/itemProps2.xml><?xml version="1.0" encoding="utf-8"?>
<ds:datastoreItem xmlns:ds="http://schemas.openxmlformats.org/officeDocument/2006/customXml" ds:itemID="{7717E288-11D3-4CBD-A927-943BB8C0126C}">
  <ds:schemaRefs>
    <ds:schemaRef ds:uri="http://schemas.microsoft.com/sharepoint/v3/contenttype/forms"/>
  </ds:schemaRefs>
</ds:datastoreItem>
</file>

<file path=customXml/itemProps3.xml><?xml version="1.0" encoding="utf-8"?>
<ds:datastoreItem xmlns:ds="http://schemas.openxmlformats.org/officeDocument/2006/customXml" ds:itemID="{032F2281-4B4E-472C-B897-C2480801C6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3444c6f0-6957-40bf-ba3e-61179e0a52bf"/>
    <ds:schemaRef ds:uri="9326538b-53e6-4a42-9c2e-afeb59dfb69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4456</TotalTime>
  <Words>458</Words>
  <Application>Microsoft Office PowerPoint</Application>
  <PresentationFormat>Widescreen</PresentationFormat>
  <Paragraphs>48</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Agency FB</vt:lpstr>
      <vt:lpstr>Arial</vt:lpstr>
      <vt:lpstr>Calibri</vt:lpstr>
      <vt:lpstr>Calibri Light</vt:lpstr>
      <vt:lpstr>Roboto</vt:lpstr>
      <vt:lpstr>Office Theme</vt:lpstr>
      <vt:lpstr>ALY6980  Capstone</vt:lpstr>
      <vt:lpstr>Introduction to Data Governance</vt:lpstr>
      <vt:lpstr>Data governance goals and benefits</vt:lpstr>
      <vt:lpstr>management of data X ensuring data is managed</vt:lpstr>
      <vt:lpstr>The Scope of Data Governance</vt:lpstr>
      <vt:lpstr>Who's responsible for data governance?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ALY3070  Communication and Visualization for Data Analytics</dc:title>
  <dc:creator>Mello, Alice</dc:creator>
  <cp:lastModifiedBy>Mello, Alice</cp:lastModifiedBy>
  <cp:revision>2</cp:revision>
  <dcterms:created xsi:type="dcterms:W3CDTF">2021-07-23T20:43:49Z</dcterms:created>
  <dcterms:modified xsi:type="dcterms:W3CDTF">2022-08-03T00:08:50Z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0x010100EE2817A69D76E24F86F8DCD26645BFC2</vt:lpwstr>
  </property>
</Properties>
</file>