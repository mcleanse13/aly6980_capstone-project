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60" r:id="rId2"/>
    <p:sldId id="264" r:id="rId3"/>
    <p:sldId id="259" r:id="rId4"/>
    <p:sldId id="258" r:id="rId5"/>
    <p:sldId id="261" r:id="rId6"/>
    <p:sldId id="262" r:id="rId7"/>
    <p:sldId id="265" r:id="rId8"/>
    <p:sldId id="266" r:id="rId9"/>
    <p:sldId id="267" r:id="rId10"/>
    <p:sldId id="256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37A642-FA6C-C77A-CC39-C8AA08F89247}" v="7" dt="2025-02-10T05:01:33.954"/>
    <p1510:client id="{122BD818-B80F-40C6-93ED-E60571BA287E}" v="356" dt="2025-02-10T05:13:01.443"/>
    <p1510:client id="{9C05083D-C836-DC65-01A3-6133BB852F64}" v="338" dt="2025-02-10T05:13:41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8D28E5-0DE7-426A-9648-05C2742BE1B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891B2E0-87CA-4A11-AE89-AFB7034E0A7B}">
      <dgm:prSet/>
      <dgm:spPr/>
      <dgm:t>
        <a:bodyPr/>
        <a:lstStyle/>
        <a:p>
          <a:pPr>
            <a:defRPr cap="all"/>
          </a:pPr>
          <a:r>
            <a:rPr lang="en-US"/>
            <a:t>R and Python for Data Cleanup</a:t>
          </a:r>
        </a:p>
      </dgm:t>
    </dgm:pt>
    <dgm:pt modelId="{49723631-3E58-490D-AD72-DF9DE0C63775}" type="parTrans" cxnId="{FE10B145-9053-4C1A-9734-829A50C8FD7F}">
      <dgm:prSet/>
      <dgm:spPr/>
      <dgm:t>
        <a:bodyPr/>
        <a:lstStyle/>
        <a:p>
          <a:endParaRPr lang="en-US"/>
        </a:p>
      </dgm:t>
    </dgm:pt>
    <dgm:pt modelId="{1DBD98DA-11C7-4909-ADB8-D67F42C15B06}" type="sibTrans" cxnId="{FE10B145-9053-4C1A-9734-829A50C8FD7F}">
      <dgm:prSet/>
      <dgm:spPr/>
      <dgm:t>
        <a:bodyPr/>
        <a:lstStyle/>
        <a:p>
          <a:endParaRPr lang="en-US"/>
        </a:p>
      </dgm:t>
    </dgm:pt>
    <dgm:pt modelId="{6A4DE30F-0AFF-460E-8DE6-3922AF00BF1E}">
      <dgm:prSet/>
      <dgm:spPr/>
      <dgm:t>
        <a:bodyPr/>
        <a:lstStyle/>
        <a:p>
          <a:pPr>
            <a:defRPr cap="all"/>
          </a:pPr>
          <a:r>
            <a:rPr lang="en-US"/>
            <a:t>Interactive Dashboard for Assessment and Edits</a:t>
          </a:r>
        </a:p>
      </dgm:t>
    </dgm:pt>
    <dgm:pt modelId="{52C76BA1-C8B3-44A0-B682-7EE57CC74430}" type="parTrans" cxnId="{FFD8CD8F-1242-4485-8BF7-B7A022596F0A}">
      <dgm:prSet/>
      <dgm:spPr/>
      <dgm:t>
        <a:bodyPr/>
        <a:lstStyle/>
        <a:p>
          <a:endParaRPr lang="en-US"/>
        </a:p>
      </dgm:t>
    </dgm:pt>
    <dgm:pt modelId="{8E4F34CE-ABE3-4538-9EFD-7709F097FD27}" type="sibTrans" cxnId="{FFD8CD8F-1242-4485-8BF7-B7A022596F0A}">
      <dgm:prSet/>
      <dgm:spPr/>
      <dgm:t>
        <a:bodyPr/>
        <a:lstStyle/>
        <a:p>
          <a:endParaRPr lang="en-US"/>
        </a:p>
      </dgm:t>
    </dgm:pt>
    <dgm:pt modelId="{83EE1599-A0DF-43B7-93CD-8B16ABC7C0B8}">
      <dgm:prSet/>
      <dgm:spPr/>
      <dgm:t>
        <a:bodyPr/>
        <a:lstStyle/>
        <a:p>
          <a:pPr>
            <a:defRPr cap="all"/>
          </a:pPr>
          <a:r>
            <a:rPr lang="en-US"/>
            <a:t>Comparison of datasets for industry research</a:t>
          </a:r>
        </a:p>
      </dgm:t>
    </dgm:pt>
    <dgm:pt modelId="{139264E0-76EB-4CAA-A84E-AB77FF44977A}" type="parTrans" cxnId="{D14BBE76-FD11-431A-9950-0C8383DC873C}">
      <dgm:prSet/>
      <dgm:spPr/>
      <dgm:t>
        <a:bodyPr/>
        <a:lstStyle/>
        <a:p>
          <a:endParaRPr lang="en-US"/>
        </a:p>
      </dgm:t>
    </dgm:pt>
    <dgm:pt modelId="{1E8B79B9-D622-41DB-8B7B-F9EF128F8F9B}" type="sibTrans" cxnId="{D14BBE76-FD11-431A-9950-0C8383DC873C}">
      <dgm:prSet/>
      <dgm:spPr/>
      <dgm:t>
        <a:bodyPr/>
        <a:lstStyle/>
        <a:p>
          <a:endParaRPr lang="en-US"/>
        </a:p>
      </dgm:t>
    </dgm:pt>
    <dgm:pt modelId="{4AAEC10C-F918-4D78-A3B4-858E3DB7258A}" type="pres">
      <dgm:prSet presAssocID="{C18D28E5-0DE7-426A-9648-05C2742BE1BD}" presName="root" presStyleCnt="0">
        <dgm:presLayoutVars>
          <dgm:dir/>
          <dgm:resizeHandles val="exact"/>
        </dgm:presLayoutVars>
      </dgm:prSet>
      <dgm:spPr/>
    </dgm:pt>
    <dgm:pt modelId="{5AB4F4FB-7F66-4802-BE03-3B5BA22E1F42}" type="pres">
      <dgm:prSet presAssocID="{4891B2E0-87CA-4A11-AE89-AFB7034E0A7B}" presName="compNode" presStyleCnt="0"/>
      <dgm:spPr/>
    </dgm:pt>
    <dgm:pt modelId="{18BB8F33-7C9F-4145-A9D2-FC934E8ECB8F}" type="pres">
      <dgm:prSet presAssocID="{4891B2E0-87CA-4A11-AE89-AFB7034E0A7B}" presName="iconBgRect" presStyleLbl="bgShp" presStyleIdx="0" presStyleCnt="3"/>
      <dgm:spPr/>
    </dgm:pt>
    <dgm:pt modelId="{63AA59BB-96A0-44AC-90B3-9E003BF8B460}" type="pres">
      <dgm:prSet presAssocID="{4891B2E0-87CA-4A11-AE89-AFB7034E0A7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653E872-A67E-4CE6-B14E-66D80BADC52B}" type="pres">
      <dgm:prSet presAssocID="{4891B2E0-87CA-4A11-AE89-AFB7034E0A7B}" presName="spaceRect" presStyleCnt="0"/>
      <dgm:spPr/>
    </dgm:pt>
    <dgm:pt modelId="{C09A4E14-BB3B-4101-8A9C-F874CC3D9904}" type="pres">
      <dgm:prSet presAssocID="{4891B2E0-87CA-4A11-AE89-AFB7034E0A7B}" presName="textRect" presStyleLbl="revTx" presStyleIdx="0" presStyleCnt="3">
        <dgm:presLayoutVars>
          <dgm:chMax val="1"/>
          <dgm:chPref val="1"/>
        </dgm:presLayoutVars>
      </dgm:prSet>
      <dgm:spPr/>
    </dgm:pt>
    <dgm:pt modelId="{98AAA550-0C31-43B6-8885-F55EB988BF0B}" type="pres">
      <dgm:prSet presAssocID="{1DBD98DA-11C7-4909-ADB8-D67F42C15B06}" presName="sibTrans" presStyleCnt="0"/>
      <dgm:spPr/>
    </dgm:pt>
    <dgm:pt modelId="{8270B599-99E2-4EF0-AFD5-29E9BD9BE965}" type="pres">
      <dgm:prSet presAssocID="{6A4DE30F-0AFF-460E-8DE6-3922AF00BF1E}" presName="compNode" presStyleCnt="0"/>
      <dgm:spPr/>
    </dgm:pt>
    <dgm:pt modelId="{419657D9-2B0F-4EF6-B97A-CFEA37251314}" type="pres">
      <dgm:prSet presAssocID="{6A4DE30F-0AFF-460E-8DE6-3922AF00BF1E}" presName="iconBgRect" presStyleLbl="bgShp" presStyleIdx="1" presStyleCnt="3"/>
      <dgm:spPr/>
    </dgm:pt>
    <dgm:pt modelId="{AB5539C8-7471-49D3-A630-1D07B944FCCF}" type="pres">
      <dgm:prSet presAssocID="{6A4DE30F-0AFF-460E-8DE6-3922AF00BF1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EC944BA-41AA-465B-B01C-48479E3D4035}" type="pres">
      <dgm:prSet presAssocID="{6A4DE30F-0AFF-460E-8DE6-3922AF00BF1E}" presName="spaceRect" presStyleCnt="0"/>
      <dgm:spPr/>
    </dgm:pt>
    <dgm:pt modelId="{948A5415-A687-4DCD-B415-55D860C997AE}" type="pres">
      <dgm:prSet presAssocID="{6A4DE30F-0AFF-460E-8DE6-3922AF00BF1E}" presName="textRect" presStyleLbl="revTx" presStyleIdx="1" presStyleCnt="3">
        <dgm:presLayoutVars>
          <dgm:chMax val="1"/>
          <dgm:chPref val="1"/>
        </dgm:presLayoutVars>
      </dgm:prSet>
      <dgm:spPr/>
    </dgm:pt>
    <dgm:pt modelId="{19E206CB-1032-41EC-91E4-82B81F175AF1}" type="pres">
      <dgm:prSet presAssocID="{8E4F34CE-ABE3-4538-9EFD-7709F097FD27}" presName="sibTrans" presStyleCnt="0"/>
      <dgm:spPr/>
    </dgm:pt>
    <dgm:pt modelId="{28756B1C-0BB9-4242-B572-3B88F99A20BD}" type="pres">
      <dgm:prSet presAssocID="{83EE1599-A0DF-43B7-93CD-8B16ABC7C0B8}" presName="compNode" presStyleCnt="0"/>
      <dgm:spPr/>
    </dgm:pt>
    <dgm:pt modelId="{20F28B59-1C6B-4CDA-A535-0EADE6B63396}" type="pres">
      <dgm:prSet presAssocID="{83EE1599-A0DF-43B7-93CD-8B16ABC7C0B8}" presName="iconBgRect" presStyleLbl="bgShp" presStyleIdx="2" presStyleCnt="3"/>
      <dgm:spPr/>
    </dgm:pt>
    <dgm:pt modelId="{3C3A5FAE-89E3-4578-BC8A-4CFB470941D4}" type="pres">
      <dgm:prSet presAssocID="{83EE1599-A0DF-43B7-93CD-8B16ABC7C0B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CA6A370-8ED7-458F-AD2B-AA394A8877DF}" type="pres">
      <dgm:prSet presAssocID="{83EE1599-A0DF-43B7-93CD-8B16ABC7C0B8}" presName="spaceRect" presStyleCnt="0"/>
      <dgm:spPr/>
    </dgm:pt>
    <dgm:pt modelId="{17B2FB70-95C2-4573-856F-AAF76EF51EF4}" type="pres">
      <dgm:prSet presAssocID="{83EE1599-A0DF-43B7-93CD-8B16ABC7C0B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D62D1F-7836-48AF-B6B3-13F67FF0C575}" type="presOf" srcId="{4891B2E0-87CA-4A11-AE89-AFB7034E0A7B}" destId="{C09A4E14-BB3B-4101-8A9C-F874CC3D9904}" srcOrd="0" destOrd="0" presId="urn:microsoft.com/office/officeart/2018/5/layout/IconCircleLabelList"/>
    <dgm:cxn modelId="{FE10B145-9053-4C1A-9734-829A50C8FD7F}" srcId="{C18D28E5-0DE7-426A-9648-05C2742BE1BD}" destId="{4891B2E0-87CA-4A11-AE89-AFB7034E0A7B}" srcOrd="0" destOrd="0" parTransId="{49723631-3E58-490D-AD72-DF9DE0C63775}" sibTransId="{1DBD98DA-11C7-4909-ADB8-D67F42C15B06}"/>
    <dgm:cxn modelId="{7E536C53-DF32-4BC7-BF7D-AA5E50FCB262}" type="presOf" srcId="{6A4DE30F-0AFF-460E-8DE6-3922AF00BF1E}" destId="{948A5415-A687-4DCD-B415-55D860C997AE}" srcOrd="0" destOrd="0" presId="urn:microsoft.com/office/officeart/2018/5/layout/IconCircleLabelList"/>
    <dgm:cxn modelId="{D14BBE76-FD11-431A-9950-0C8383DC873C}" srcId="{C18D28E5-0DE7-426A-9648-05C2742BE1BD}" destId="{83EE1599-A0DF-43B7-93CD-8B16ABC7C0B8}" srcOrd="2" destOrd="0" parTransId="{139264E0-76EB-4CAA-A84E-AB77FF44977A}" sibTransId="{1E8B79B9-D622-41DB-8B7B-F9EF128F8F9B}"/>
    <dgm:cxn modelId="{B2579557-A82C-46DB-A298-80B50B69FC92}" type="presOf" srcId="{83EE1599-A0DF-43B7-93CD-8B16ABC7C0B8}" destId="{17B2FB70-95C2-4573-856F-AAF76EF51EF4}" srcOrd="0" destOrd="0" presId="urn:microsoft.com/office/officeart/2018/5/layout/IconCircleLabelList"/>
    <dgm:cxn modelId="{FFD8CD8F-1242-4485-8BF7-B7A022596F0A}" srcId="{C18D28E5-0DE7-426A-9648-05C2742BE1BD}" destId="{6A4DE30F-0AFF-460E-8DE6-3922AF00BF1E}" srcOrd="1" destOrd="0" parTransId="{52C76BA1-C8B3-44A0-B682-7EE57CC74430}" sibTransId="{8E4F34CE-ABE3-4538-9EFD-7709F097FD27}"/>
    <dgm:cxn modelId="{EB8E1C96-1EA8-42E3-9ED9-FBA768756373}" type="presOf" srcId="{C18D28E5-0DE7-426A-9648-05C2742BE1BD}" destId="{4AAEC10C-F918-4D78-A3B4-858E3DB7258A}" srcOrd="0" destOrd="0" presId="urn:microsoft.com/office/officeart/2018/5/layout/IconCircleLabelList"/>
    <dgm:cxn modelId="{886329C0-E9D1-4196-B3E9-07A1C536FDFA}" type="presParOf" srcId="{4AAEC10C-F918-4D78-A3B4-858E3DB7258A}" destId="{5AB4F4FB-7F66-4802-BE03-3B5BA22E1F42}" srcOrd="0" destOrd="0" presId="urn:microsoft.com/office/officeart/2018/5/layout/IconCircleLabelList"/>
    <dgm:cxn modelId="{D15F7603-21F0-4199-A4F9-16A7D6BB3DE9}" type="presParOf" srcId="{5AB4F4FB-7F66-4802-BE03-3B5BA22E1F42}" destId="{18BB8F33-7C9F-4145-A9D2-FC934E8ECB8F}" srcOrd="0" destOrd="0" presId="urn:microsoft.com/office/officeart/2018/5/layout/IconCircleLabelList"/>
    <dgm:cxn modelId="{F453F3E6-8707-402A-A442-AA12CE6FA026}" type="presParOf" srcId="{5AB4F4FB-7F66-4802-BE03-3B5BA22E1F42}" destId="{63AA59BB-96A0-44AC-90B3-9E003BF8B460}" srcOrd="1" destOrd="0" presId="urn:microsoft.com/office/officeart/2018/5/layout/IconCircleLabelList"/>
    <dgm:cxn modelId="{2521E679-D20B-49A1-BB88-2B6F4C8BF67F}" type="presParOf" srcId="{5AB4F4FB-7F66-4802-BE03-3B5BA22E1F42}" destId="{B653E872-A67E-4CE6-B14E-66D80BADC52B}" srcOrd="2" destOrd="0" presId="urn:microsoft.com/office/officeart/2018/5/layout/IconCircleLabelList"/>
    <dgm:cxn modelId="{D19223D4-7C4E-4F9A-8985-01085F041CBB}" type="presParOf" srcId="{5AB4F4FB-7F66-4802-BE03-3B5BA22E1F42}" destId="{C09A4E14-BB3B-4101-8A9C-F874CC3D9904}" srcOrd="3" destOrd="0" presId="urn:microsoft.com/office/officeart/2018/5/layout/IconCircleLabelList"/>
    <dgm:cxn modelId="{D9C196F3-9420-41A9-853A-30EA31692FF0}" type="presParOf" srcId="{4AAEC10C-F918-4D78-A3B4-858E3DB7258A}" destId="{98AAA550-0C31-43B6-8885-F55EB988BF0B}" srcOrd="1" destOrd="0" presId="urn:microsoft.com/office/officeart/2018/5/layout/IconCircleLabelList"/>
    <dgm:cxn modelId="{2F82228B-5AEC-4F24-BF60-3510D4CB5351}" type="presParOf" srcId="{4AAEC10C-F918-4D78-A3B4-858E3DB7258A}" destId="{8270B599-99E2-4EF0-AFD5-29E9BD9BE965}" srcOrd="2" destOrd="0" presId="urn:microsoft.com/office/officeart/2018/5/layout/IconCircleLabelList"/>
    <dgm:cxn modelId="{F75F1B8C-9633-4E75-8370-BB7DFBF0AF3B}" type="presParOf" srcId="{8270B599-99E2-4EF0-AFD5-29E9BD9BE965}" destId="{419657D9-2B0F-4EF6-B97A-CFEA37251314}" srcOrd="0" destOrd="0" presId="urn:microsoft.com/office/officeart/2018/5/layout/IconCircleLabelList"/>
    <dgm:cxn modelId="{B4116B7C-56E6-47BC-941D-5A07E246518A}" type="presParOf" srcId="{8270B599-99E2-4EF0-AFD5-29E9BD9BE965}" destId="{AB5539C8-7471-49D3-A630-1D07B944FCCF}" srcOrd="1" destOrd="0" presId="urn:microsoft.com/office/officeart/2018/5/layout/IconCircleLabelList"/>
    <dgm:cxn modelId="{64E8F987-0020-43D1-8512-061A460EA795}" type="presParOf" srcId="{8270B599-99E2-4EF0-AFD5-29E9BD9BE965}" destId="{2EC944BA-41AA-465B-B01C-48479E3D4035}" srcOrd="2" destOrd="0" presId="urn:microsoft.com/office/officeart/2018/5/layout/IconCircleLabelList"/>
    <dgm:cxn modelId="{F7F03E35-40FC-4EF2-BA9F-35ABEAD17DC7}" type="presParOf" srcId="{8270B599-99E2-4EF0-AFD5-29E9BD9BE965}" destId="{948A5415-A687-4DCD-B415-55D860C997AE}" srcOrd="3" destOrd="0" presId="urn:microsoft.com/office/officeart/2018/5/layout/IconCircleLabelList"/>
    <dgm:cxn modelId="{E1A6AA53-80E2-4926-B4BF-25889348E86B}" type="presParOf" srcId="{4AAEC10C-F918-4D78-A3B4-858E3DB7258A}" destId="{19E206CB-1032-41EC-91E4-82B81F175AF1}" srcOrd="3" destOrd="0" presId="urn:microsoft.com/office/officeart/2018/5/layout/IconCircleLabelList"/>
    <dgm:cxn modelId="{29341F04-EBB8-46D6-95FB-7269979ECF94}" type="presParOf" srcId="{4AAEC10C-F918-4D78-A3B4-858E3DB7258A}" destId="{28756B1C-0BB9-4242-B572-3B88F99A20BD}" srcOrd="4" destOrd="0" presId="urn:microsoft.com/office/officeart/2018/5/layout/IconCircleLabelList"/>
    <dgm:cxn modelId="{C5641288-5216-44A4-A4EB-8E18A03EA0C8}" type="presParOf" srcId="{28756B1C-0BB9-4242-B572-3B88F99A20BD}" destId="{20F28B59-1C6B-4CDA-A535-0EADE6B63396}" srcOrd="0" destOrd="0" presId="urn:microsoft.com/office/officeart/2018/5/layout/IconCircleLabelList"/>
    <dgm:cxn modelId="{A0CF8E50-2F8E-4636-8457-AB30CB61ADD2}" type="presParOf" srcId="{28756B1C-0BB9-4242-B572-3B88F99A20BD}" destId="{3C3A5FAE-89E3-4578-BC8A-4CFB470941D4}" srcOrd="1" destOrd="0" presId="urn:microsoft.com/office/officeart/2018/5/layout/IconCircleLabelList"/>
    <dgm:cxn modelId="{4A659254-C815-4993-B8AC-DA29B5C0434C}" type="presParOf" srcId="{28756B1C-0BB9-4242-B572-3B88F99A20BD}" destId="{DCA6A370-8ED7-458F-AD2B-AA394A8877DF}" srcOrd="2" destOrd="0" presId="urn:microsoft.com/office/officeart/2018/5/layout/IconCircleLabelList"/>
    <dgm:cxn modelId="{10378B6D-4316-4A7C-8B0B-42ABA7B657C9}" type="presParOf" srcId="{28756B1C-0BB9-4242-B572-3B88F99A20BD}" destId="{17B2FB70-95C2-4573-856F-AAF76EF51EF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BB8F33-7C9F-4145-A9D2-FC934E8ECB8F}">
      <dsp:nvSpPr>
        <dsp:cNvPr id="0" name=""/>
        <dsp:cNvSpPr/>
      </dsp:nvSpPr>
      <dsp:spPr>
        <a:xfrm>
          <a:off x="712684" y="96969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A59BB-96A0-44AC-90B3-9E003BF8B460}">
      <dsp:nvSpPr>
        <dsp:cNvPr id="0" name=""/>
        <dsp:cNvSpPr/>
      </dsp:nvSpPr>
      <dsp:spPr>
        <a:xfrm>
          <a:off x="1129497" y="513782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A4E14-BB3B-4101-8A9C-F874CC3D9904}">
      <dsp:nvSpPr>
        <dsp:cNvPr id="0" name=""/>
        <dsp:cNvSpPr/>
      </dsp:nvSpPr>
      <dsp:spPr>
        <a:xfrm>
          <a:off x="87465" y="266197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R and Python for Data Cleanup</a:t>
          </a:r>
        </a:p>
      </dsp:txBody>
      <dsp:txXfrm>
        <a:off x="87465" y="2661970"/>
        <a:ext cx="3206250" cy="720000"/>
      </dsp:txXfrm>
    </dsp:sp>
    <dsp:sp modelId="{419657D9-2B0F-4EF6-B97A-CFEA37251314}">
      <dsp:nvSpPr>
        <dsp:cNvPr id="0" name=""/>
        <dsp:cNvSpPr/>
      </dsp:nvSpPr>
      <dsp:spPr>
        <a:xfrm>
          <a:off x="4480028" y="96969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539C8-7471-49D3-A630-1D07B944FCCF}">
      <dsp:nvSpPr>
        <dsp:cNvPr id="0" name=""/>
        <dsp:cNvSpPr/>
      </dsp:nvSpPr>
      <dsp:spPr>
        <a:xfrm>
          <a:off x="4896840" y="513782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A5415-A687-4DCD-B415-55D860C997AE}">
      <dsp:nvSpPr>
        <dsp:cNvPr id="0" name=""/>
        <dsp:cNvSpPr/>
      </dsp:nvSpPr>
      <dsp:spPr>
        <a:xfrm>
          <a:off x="3854809" y="266197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Interactive Dashboard for Assessment and Edits</a:t>
          </a:r>
        </a:p>
      </dsp:txBody>
      <dsp:txXfrm>
        <a:off x="3854809" y="2661970"/>
        <a:ext cx="3206250" cy="720000"/>
      </dsp:txXfrm>
    </dsp:sp>
    <dsp:sp modelId="{20F28B59-1C6B-4CDA-A535-0EADE6B63396}">
      <dsp:nvSpPr>
        <dsp:cNvPr id="0" name=""/>
        <dsp:cNvSpPr/>
      </dsp:nvSpPr>
      <dsp:spPr>
        <a:xfrm>
          <a:off x="8247372" y="96969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3A5FAE-89E3-4578-BC8A-4CFB470941D4}">
      <dsp:nvSpPr>
        <dsp:cNvPr id="0" name=""/>
        <dsp:cNvSpPr/>
      </dsp:nvSpPr>
      <dsp:spPr>
        <a:xfrm>
          <a:off x="8664184" y="513782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2FB70-95C2-4573-856F-AAF76EF51EF4}">
      <dsp:nvSpPr>
        <dsp:cNvPr id="0" name=""/>
        <dsp:cNvSpPr/>
      </dsp:nvSpPr>
      <dsp:spPr>
        <a:xfrm>
          <a:off x="7622153" y="266197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Comparison of datasets for industry research</a:t>
          </a:r>
        </a:p>
      </dsp:txBody>
      <dsp:txXfrm>
        <a:off x="7622153" y="2661970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4:42:16.9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4:46:41.6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5:12:59.0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0T03:51:43.7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902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072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43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9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23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67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8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37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9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0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0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72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4B3FA-277C-4C3F-4DF0-BF90511F6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915951"/>
            <a:ext cx="10515600" cy="1863291"/>
          </a:xfrm>
        </p:spPr>
        <p:txBody>
          <a:bodyPr/>
          <a:lstStyle/>
          <a:p>
            <a:pPr algn="ctr"/>
            <a:r>
              <a:rPr lang="en-US" sz="6600">
                <a:latin typeface="Calibri"/>
                <a:ea typeface="Calibri"/>
                <a:cs typeface="Calibri"/>
              </a:rPr>
              <a:t>ALY 6980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17EFFC-A7CB-C225-C028-CE52B0530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3138639"/>
            <a:ext cx="10515600" cy="131187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>
                <a:latin typeface="Calibri"/>
                <a:ea typeface="Calibri"/>
                <a:cs typeface="Calibri"/>
              </a:rPr>
              <a:t>Group 3</a:t>
            </a:r>
          </a:p>
          <a:p>
            <a:pPr algn="ctr"/>
            <a:r>
              <a:rPr lang="en-US" sz="3200" b="1">
                <a:latin typeface="Calibri"/>
                <a:ea typeface="Calibri"/>
                <a:cs typeface="Times New Roman"/>
              </a:rPr>
              <a:t>Pei-Yu </a:t>
            </a:r>
            <a:r>
              <a:rPr lang="en-US" sz="3200" b="1" err="1">
                <a:latin typeface="Calibri"/>
                <a:ea typeface="Calibri"/>
                <a:cs typeface="Times New Roman"/>
              </a:rPr>
              <a:t>Jheng</a:t>
            </a:r>
            <a:r>
              <a:rPr lang="en-US" sz="3200" b="1">
                <a:latin typeface="Calibri"/>
                <a:ea typeface="Calibri"/>
                <a:cs typeface="Times New Roman"/>
              </a:rPr>
              <a:t>, Shreeya Ambre, Sean Mclean, Theodore Smith</a:t>
            </a:r>
          </a:p>
        </p:txBody>
      </p:sp>
    </p:spTree>
    <p:extLst>
      <p:ext uri="{BB962C8B-B14F-4D97-AF65-F5344CB8AC3E}">
        <p14:creationId xmlns:p14="http://schemas.microsoft.com/office/powerpoint/2010/main" val="384652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AA278-5C9C-E6D8-C48A-7A952C7E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7200">
                <a:latin typeface="Calibri"/>
                <a:ea typeface="Calibri"/>
                <a:cs typeface="Calibri"/>
              </a:rPr>
              <a:t>Introduction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38100" cap="rnd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A978D-BDA8-52A6-AE2C-DD136560B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latin typeface="Calibri"/>
                <a:ea typeface="+mn-lt"/>
                <a:cs typeface="+mn-lt"/>
              </a:rPr>
              <a:t>Data Cleaning &amp; Integration</a:t>
            </a:r>
            <a:r>
              <a:rPr lang="en-US" dirty="0">
                <a:latin typeface="Calibri"/>
                <a:ea typeface="+mn-lt"/>
                <a:cs typeface="+mn-lt"/>
              </a:rPr>
              <a:t>: Ensure accurate and consistent datasets.</a:t>
            </a:r>
          </a:p>
          <a:p>
            <a:pPr>
              <a:buFont typeface="Arial"/>
              <a:buChar char="•"/>
            </a:pPr>
            <a:r>
              <a:rPr lang="en-US" b="1" err="1">
                <a:latin typeface="Calibri"/>
                <a:ea typeface="+mn-lt"/>
                <a:cs typeface="+mn-lt"/>
              </a:rPr>
              <a:t>Streamlit</a:t>
            </a:r>
            <a:r>
              <a:rPr lang="en-US" b="1" dirty="0">
                <a:latin typeface="Calibri"/>
                <a:ea typeface="+mn-lt"/>
                <a:cs typeface="+mn-lt"/>
              </a:rPr>
              <a:t> Dashboard</a:t>
            </a:r>
            <a:r>
              <a:rPr lang="en-US" dirty="0">
                <a:latin typeface="Calibri"/>
                <a:ea typeface="+mn-lt"/>
                <a:cs typeface="+mn-lt"/>
              </a:rPr>
              <a:t>: Track customer interactions efficiently.</a:t>
            </a:r>
          </a:p>
          <a:p>
            <a:pPr>
              <a:buFont typeface="Arial"/>
              <a:buChar char="•"/>
            </a:pPr>
            <a:r>
              <a:rPr lang="en-US" b="1" dirty="0">
                <a:latin typeface="Calibri"/>
                <a:ea typeface="+mn-lt"/>
                <a:cs typeface="+mn-lt"/>
              </a:rPr>
              <a:t>Growth Optimization</a:t>
            </a:r>
            <a:r>
              <a:rPr lang="en-US" dirty="0">
                <a:latin typeface="Calibri"/>
                <a:ea typeface="+mn-lt"/>
                <a:cs typeface="+mn-lt"/>
              </a:rPr>
              <a:t>: Prioritize high-potential opportunities.</a:t>
            </a:r>
          </a:p>
          <a:p>
            <a:pPr marL="0" indent="0">
              <a:buNone/>
            </a:pPr>
            <a:endParaRPr lang="en-US">
              <a:latin typeface="Calibri"/>
              <a:ea typeface="Calibri"/>
              <a:cs typeface="Times New Roman"/>
            </a:endParaRPr>
          </a:p>
        </p:txBody>
      </p:sp>
      <p:pic>
        <p:nvPicPr>
          <p:cNvPr id="12" name="Picture 11" descr="Magnifying glass showing decling performance">
            <a:extLst>
              <a:ext uri="{FF2B5EF4-FFF2-40B4-BE49-F238E27FC236}">
                <a16:creationId xmlns:a16="http://schemas.microsoft.com/office/drawing/2014/main" id="{EF5064E2-9FC0-FDE1-4DFC-1824073CBD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38" r="25398" b="-3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4461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8A0E7-64CF-299E-54F9-ECEDC464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880" y="548640"/>
            <a:ext cx="3432908" cy="5444904"/>
          </a:xfrm>
        </p:spPr>
        <p:txBody>
          <a:bodyPr>
            <a:normAutofit/>
          </a:bodyPr>
          <a:lstStyle/>
          <a:p>
            <a:r>
              <a:rPr lang="en-US" sz="4600">
                <a:latin typeface="Calibri"/>
                <a:ea typeface="Calibri"/>
                <a:cs typeface="Calibri"/>
              </a:rPr>
              <a:t>BUSINESS QUESTION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39411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41275" cap="rnd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0733C-0C84-84FD-9982-686D2664B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595" y="552091"/>
            <a:ext cx="6052158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>
                <a:latin typeface="Calibri"/>
                <a:ea typeface="+mn-lt"/>
                <a:cs typeface="+mn-lt"/>
              </a:rPr>
              <a:t>Utilizing past data, how can Big Sky improve leads and transactions by building stronger client relationships?</a:t>
            </a: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807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59DC6-0F09-ED7A-51C6-023B0302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en-US" sz="4600" b="1" dirty="0">
                <a:latin typeface="Calibri"/>
                <a:ea typeface="Calibri"/>
                <a:cs typeface="Calibri"/>
              </a:rPr>
              <a:t>Tools and Data To Use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34925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DC6DDD-26EE-4DD3-8841-B2DE25286D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2454359"/>
              </p:ext>
            </p:extLst>
          </p:nvPr>
        </p:nvGraphicFramePr>
        <p:xfrm>
          <a:off x="632647" y="2714691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0239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1592-65D9-2547-A825-42141219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690" y="682652"/>
            <a:ext cx="3960962" cy="1675940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4600">
                <a:latin typeface="Calibri"/>
                <a:ea typeface="Calibri"/>
                <a:cs typeface="Calibri"/>
              </a:rPr>
              <a:t>Data Cleaning Process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084" y="253288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25450 w 3291840"/>
              <a:gd name="connsiteY1" fmla="*/ 0 h 18288"/>
              <a:gd name="connsiteX2" fmla="*/ 1283818 w 3291840"/>
              <a:gd name="connsiteY2" fmla="*/ 0 h 18288"/>
              <a:gd name="connsiteX3" fmla="*/ 1975104 w 3291840"/>
              <a:gd name="connsiteY3" fmla="*/ 0 h 18288"/>
              <a:gd name="connsiteX4" fmla="*/ 2666390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567635 w 3291840"/>
              <a:gd name="connsiteY7" fmla="*/ 18288 h 18288"/>
              <a:gd name="connsiteX8" fmla="*/ 1843430 w 3291840"/>
              <a:gd name="connsiteY8" fmla="*/ 18288 h 18288"/>
              <a:gd name="connsiteX9" fmla="*/ 1185062 w 3291840"/>
              <a:gd name="connsiteY9" fmla="*/ 18288 h 18288"/>
              <a:gd name="connsiteX10" fmla="*/ 0 w 3291840"/>
              <a:gd name="connsiteY10" fmla="*/ 18288 h 18288"/>
              <a:gd name="connsiteX11" fmla="*/ 0 w 3291840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1131" y="8157"/>
                  <a:pt x="3291427" y="12125"/>
                  <a:pt x="3291840" y="18288"/>
                </a:cubicBezTo>
                <a:cubicBezTo>
                  <a:pt x="3043276" y="37868"/>
                  <a:pt x="2921041" y="-12908"/>
                  <a:pt x="2567635" y="18288"/>
                </a:cubicBezTo>
                <a:cubicBezTo>
                  <a:pt x="2214230" y="49484"/>
                  <a:pt x="2189623" y="-13019"/>
                  <a:pt x="1843430" y="18288"/>
                </a:cubicBezTo>
                <a:cubicBezTo>
                  <a:pt x="1497237" y="49595"/>
                  <a:pt x="1492584" y="29180"/>
                  <a:pt x="1185062" y="18288"/>
                </a:cubicBezTo>
                <a:cubicBezTo>
                  <a:pt x="877540" y="7396"/>
                  <a:pt x="313238" y="464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1576" y="4493"/>
                  <a:pt x="3292224" y="9472"/>
                  <a:pt x="3291840" y="18288"/>
                </a:cubicBezTo>
                <a:cubicBezTo>
                  <a:pt x="3120474" y="15714"/>
                  <a:pt x="2816568" y="4633"/>
                  <a:pt x="2633472" y="18288"/>
                </a:cubicBezTo>
                <a:cubicBezTo>
                  <a:pt x="2450376" y="31943"/>
                  <a:pt x="2160769" y="37350"/>
                  <a:pt x="1909267" y="18288"/>
                </a:cubicBezTo>
                <a:cubicBezTo>
                  <a:pt x="1657765" y="-774"/>
                  <a:pt x="1623992" y="9648"/>
                  <a:pt x="1349654" y="18288"/>
                </a:cubicBezTo>
                <a:cubicBezTo>
                  <a:pt x="1075316" y="26928"/>
                  <a:pt x="833426" y="34181"/>
                  <a:pt x="691286" y="18288"/>
                </a:cubicBezTo>
                <a:cubicBezTo>
                  <a:pt x="549146" y="2395"/>
                  <a:pt x="342011" y="24201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38100" cap="rnd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F2676-8B65-2F1C-09C2-2A66C6790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1700">
                <a:latin typeface="Calibri"/>
                <a:ea typeface="Calibri"/>
                <a:cs typeface="Calibri"/>
              </a:rPr>
              <a:t>Statistical Overview: Print table stats and identify missing values.</a:t>
            </a:r>
          </a:p>
          <a:p>
            <a:pPr>
              <a:lnSpc>
                <a:spcPct val="100000"/>
              </a:lnSpc>
            </a:pPr>
            <a:r>
              <a:rPr lang="en-US" sz="1700">
                <a:latin typeface="Calibri"/>
                <a:ea typeface="Calibri"/>
                <a:cs typeface="Calibri"/>
              </a:rPr>
              <a:t>Merging: Combine datasets and ensure smooth integration.</a:t>
            </a:r>
          </a:p>
          <a:p>
            <a:pPr>
              <a:lnSpc>
                <a:spcPct val="100000"/>
              </a:lnSpc>
            </a:pPr>
            <a:r>
              <a:rPr lang="en-US" sz="1700">
                <a:latin typeface="Calibri"/>
                <a:ea typeface="Calibri"/>
                <a:cs typeface="Calibri"/>
              </a:rPr>
              <a:t>Column Name Standardization: Convert to lowercase, replace spaces/dots with underscores.</a:t>
            </a:r>
          </a:p>
          <a:p>
            <a:pPr>
              <a:lnSpc>
                <a:spcPct val="100000"/>
              </a:lnSpc>
            </a:pPr>
            <a:r>
              <a:rPr lang="en-US" sz="1700">
                <a:latin typeface="Calibri"/>
                <a:ea typeface="Calibri"/>
                <a:cs typeface="Calibri"/>
              </a:rPr>
              <a:t>Duplicate Columns: Identify and distinguish duplicates.</a:t>
            </a:r>
          </a:p>
          <a:p>
            <a:pPr>
              <a:lnSpc>
                <a:spcPct val="100000"/>
              </a:lnSpc>
            </a:pPr>
            <a:r>
              <a:rPr lang="en-US" sz="1700">
                <a:latin typeface="Calibri"/>
                <a:ea typeface="Calibri"/>
                <a:cs typeface="Calibri"/>
              </a:rPr>
              <a:t>Unnecessary Columns: Remove irrelevant columns (e.g., id, "last enriched time").</a:t>
            </a:r>
          </a:p>
          <a:p>
            <a:pPr>
              <a:lnSpc>
                <a:spcPct val="100000"/>
              </a:lnSpc>
            </a:pPr>
            <a:r>
              <a:rPr lang="en-US" sz="1700">
                <a:latin typeface="Calibri"/>
                <a:ea typeface="Calibri"/>
                <a:cs typeface="Calibri"/>
              </a:rPr>
              <a:t>Finding Missing Values</a:t>
            </a:r>
          </a:p>
          <a:p>
            <a:pPr>
              <a:lnSpc>
                <a:spcPct val="100000"/>
              </a:lnSpc>
            </a:pPr>
            <a:endParaRPr lang="en-US" sz="1700"/>
          </a:p>
          <a:p>
            <a:pPr>
              <a:lnSpc>
                <a:spcPct val="100000"/>
              </a:lnSpc>
            </a:pPr>
            <a:endParaRPr lang="en-US" sz="1700"/>
          </a:p>
          <a:p>
            <a:pPr>
              <a:lnSpc>
                <a:spcPct val="100000"/>
              </a:lnSpc>
            </a:pPr>
            <a:endParaRPr lang="en-US" sz="17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Content Placeholder 7" descr="A diagram of data cleaning cycle&#10;&#10;AI-generated content may be incorrect.">
            <a:extLst>
              <a:ext uri="{FF2B5EF4-FFF2-40B4-BE49-F238E27FC236}">
                <a16:creationId xmlns:a16="http://schemas.microsoft.com/office/drawing/2014/main" id="{BF455D58-B877-9C54-6C63-9E77F34D0D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54296" y="702031"/>
            <a:ext cx="6903720" cy="545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339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F6BAA-BBDE-7306-5365-791B1296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645" y="639520"/>
            <a:ext cx="3858491" cy="1719072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4600">
                <a:latin typeface="Calibri"/>
                <a:ea typeface="Calibri"/>
                <a:cs typeface="Calibri"/>
              </a:rPr>
              <a:t>Exploratory Data Analysis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9084" y="253288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25450 w 3291840"/>
              <a:gd name="connsiteY1" fmla="*/ 0 h 18288"/>
              <a:gd name="connsiteX2" fmla="*/ 1283818 w 3291840"/>
              <a:gd name="connsiteY2" fmla="*/ 0 h 18288"/>
              <a:gd name="connsiteX3" fmla="*/ 1975104 w 3291840"/>
              <a:gd name="connsiteY3" fmla="*/ 0 h 18288"/>
              <a:gd name="connsiteX4" fmla="*/ 2666390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567635 w 3291840"/>
              <a:gd name="connsiteY7" fmla="*/ 18288 h 18288"/>
              <a:gd name="connsiteX8" fmla="*/ 1843430 w 3291840"/>
              <a:gd name="connsiteY8" fmla="*/ 18288 h 18288"/>
              <a:gd name="connsiteX9" fmla="*/ 1185062 w 3291840"/>
              <a:gd name="connsiteY9" fmla="*/ 18288 h 18288"/>
              <a:gd name="connsiteX10" fmla="*/ 0 w 3291840"/>
              <a:gd name="connsiteY10" fmla="*/ 18288 h 18288"/>
              <a:gd name="connsiteX11" fmla="*/ 0 w 3291840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1131" y="8157"/>
                  <a:pt x="3291427" y="12125"/>
                  <a:pt x="3291840" y="18288"/>
                </a:cubicBezTo>
                <a:cubicBezTo>
                  <a:pt x="3043276" y="37868"/>
                  <a:pt x="2921041" y="-12908"/>
                  <a:pt x="2567635" y="18288"/>
                </a:cubicBezTo>
                <a:cubicBezTo>
                  <a:pt x="2214230" y="49484"/>
                  <a:pt x="2189623" y="-13019"/>
                  <a:pt x="1843430" y="18288"/>
                </a:cubicBezTo>
                <a:cubicBezTo>
                  <a:pt x="1497237" y="49595"/>
                  <a:pt x="1492584" y="29180"/>
                  <a:pt x="1185062" y="18288"/>
                </a:cubicBezTo>
                <a:cubicBezTo>
                  <a:pt x="877540" y="7396"/>
                  <a:pt x="313238" y="464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1576" y="4493"/>
                  <a:pt x="3292224" y="9472"/>
                  <a:pt x="3291840" y="18288"/>
                </a:cubicBezTo>
                <a:cubicBezTo>
                  <a:pt x="3120474" y="15714"/>
                  <a:pt x="2816568" y="4633"/>
                  <a:pt x="2633472" y="18288"/>
                </a:cubicBezTo>
                <a:cubicBezTo>
                  <a:pt x="2450376" y="31943"/>
                  <a:pt x="2160769" y="37350"/>
                  <a:pt x="1909267" y="18288"/>
                </a:cubicBezTo>
                <a:cubicBezTo>
                  <a:pt x="1657765" y="-774"/>
                  <a:pt x="1623992" y="9648"/>
                  <a:pt x="1349654" y="18288"/>
                </a:cubicBezTo>
                <a:cubicBezTo>
                  <a:pt x="1075316" y="26928"/>
                  <a:pt x="833426" y="34181"/>
                  <a:pt x="691286" y="18288"/>
                </a:cubicBezTo>
                <a:cubicBezTo>
                  <a:pt x="549146" y="2395"/>
                  <a:pt x="342011" y="24201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38100" cap="rnd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21AE9-100F-7E74-C1AF-F9FBEC8B0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b="1">
                <a:latin typeface="Calibri"/>
                <a:ea typeface="Calibri"/>
                <a:cs typeface="Calibri"/>
              </a:rPr>
              <a:t>Identify Trends &amp; Patterns:</a:t>
            </a:r>
            <a:r>
              <a:rPr lang="en-US" sz="2400">
                <a:latin typeface="Calibri"/>
                <a:ea typeface="Calibri"/>
                <a:cs typeface="Calibri"/>
              </a:rPr>
              <a:t> Focus on key attributes to target potential clients.</a:t>
            </a:r>
          </a:p>
          <a:p>
            <a:pPr>
              <a:lnSpc>
                <a:spcPct val="100000"/>
              </a:lnSpc>
            </a:pPr>
            <a:r>
              <a:rPr lang="en-US" sz="2400" b="1">
                <a:latin typeface="Calibri"/>
                <a:ea typeface="Calibri"/>
                <a:cs typeface="Calibri"/>
              </a:rPr>
              <a:t>External Datasets Comparison:</a:t>
            </a:r>
            <a:r>
              <a:rPr lang="en-US" sz="2400">
                <a:latin typeface="Calibri"/>
                <a:ea typeface="Calibri"/>
                <a:cs typeface="Calibri"/>
              </a:rPr>
              <a:t> Evaluate similar external datasets for added insights.</a:t>
            </a:r>
          </a:p>
          <a:p>
            <a:pPr>
              <a:lnSpc>
                <a:spcPct val="100000"/>
              </a:lnSpc>
            </a:pPr>
            <a:r>
              <a:rPr lang="en-US" sz="2400" b="1">
                <a:latin typeface="Calibri"/>
                <a:ea typeface="Calibri"/>
                <a:cs typeface="Calibri"/>
              </a:rPr>
              <a:t>Variable Relationships:</a:t>
            </a:r>
            <a:r>
              <a:rPr lang="en-US" sz="2400">
                <a:latin typeface="Calibri"/>
                <a:ea typeface="Calibri"/>
                <a:cs typeface="Calibri"/>
              </a:rPr>
              <a:t> Examine correlations for business insights and addressing concerns.</a:t>
            </a:r>
          </a:p>
          <a:p>
            <a:pPr>
              <a:lnSpc>
                <a:spcPct val="100000"/>
              </a:lnSpc>
            </a:pPr>
            <a:endParaRPr lang="en-US"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Content Placeholder 4" descr="A laptop with charts, graphs and analysis of data">
            <a:extLst>
              <a:ext uri="{FF2B5EF4-FFF2-40B4-BE49-F238E27FC236}">
                <a16:creationId xmlns:a16="http://schemas.microsoft.com/office/drawing/2014/main" id="{E9EB75CE-7BCF-A225-6CD8-E4EF6218D9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54296" y="1573625"/>
            <a:ext cx="6903720" cy="371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3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D524B5-EE1F-7AFB-F5E5-0FDDFDAC2435}"/>
              </a:ext>
            </a:extLst>
          </p:cNvPr>
          <p:cNvSpPr txBox="1"/>
          <p:nvPr/>
        </p:nvSpPr>
        <p:spPr>
          <a:xfrm>
            <a:off x="638881" y="759978"/>
            <a:ext cx="10909640" cy="10658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Exploratory Data Analysis (Cont.) - Client Accounts</a:t>
            </a: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27432"/>
          </a:xfrm>
          <a:custGeom>
            <a:avLst/>
            <a:gdLst>
              <a:gd name="connsiteX0" fmla="*/ 0 w 3291840"/>
              <a:gd name="connsiteY0" fmla="*/ 0 h 27432"/>
              <a:gd name="connsiteX1" fmla="*/ 625450 w 3291840"/>
              <a:gd name="connsiteY1" fmla="*/ 0 h 27432"/>
              <a:gd name="connsiteX2" fmla="*/ 1283818 w 3291840"/>
              <a:gd name="connsiteY2" fmla="*/ 0 h 27432"/>
              <a:gd name="connsiteX3" fmla="*/ 1975104 w 3291840"/>
              <a:gd name="connsiteY3" fmla="*/ 0 h 27432"/>
              <a:gd name="connsiteX4" fmla="*/ 2666390 w 3291840"/>
              <a:gd name="connsiteY4" fmla="*/ 0 h 27432"/>
              <a:gd name="connsiteX5" fmla="*/ 3291840 w 3291840"/>
              <a:gd name="connsiteY5" fmla="*/ 0 h 27432"/>
              <a:gd name="connsiteX6" fmla="*/ 3291840 w 3291840"/>
              <a:gd name="connsiteY6" fmla="*/ 27432 h 27432"/>
              <a:gd name="connsiteX7" fmla="*/ 2567635 w 3291840"/>
              <a:gd name="connsiteY7" fmla="*/ 27432 h 27432"/>
              <a:gd name="connsiteX8" fmla="*/ 1843430 w 3291840"/>
              <a:gd name="connsiteY8" fmla="*/ 27432 h 27432"/>
              <a:gd name="connsiteX9" fmla="*/ 1185062 w 3291840"/>
              <a:gd name="connsiteY9" fmla="*/ 27432 h 27432"/>
              <a:gd name="connsiteX10" fmla="*/ 0 w 3291840"/>
              <a:gd name="connsiteY10" fmla="*/ 27432 h 27432"/>
              <a:gd name="connsiteX11" fmla="*/ 0 w 3291840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1840" h="27432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0674" y="7395"/>
                  <a:pt x="3291885" y="21864"/>
                  <a:pt x="3291840" y="27432"/>
                </a:cubicBezTo>
                <a:cubicBezTo>
                  <a:pt x="3043276" y="47012"/>
                  <a:pt x="2921041" y="-3764"/>
                  <a:pt x="2567635" y="27432"/>
                </a:cubicBezTo>
                <a:cubicBezTo>
                  <a:pt x="2214230" y="58628"/>
                  <a:pt x="2189623" y="-3875"/>
                  <a:pt x="1843430" y="27432"/>
                </a:cubicBezTo>
                <a:cubicBezTo>
                  <a:pt x="1497237" y="58739"/>
                  <a:pt x="1492584" y="38324"/>
                  <a:pt x="1185062" y="27432"/>
                </a:cubicBezTo>
                <a:cubicBezTo>
                  <a:pt x="877540" y="16540"/>
                  <a:pt x="313238" y="555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91840" h="27432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2033" y="12649"/>
                  <a:pt x="3290852" y="17989"/>
                  <a:pt x="3291840" y="27432"/>
                </a:cubicBezTo>
                <a:cubicBezTo>
                  <a:pt x="3120474" y="24858"/>
                  <a:pt x="2816568" y="13777"/>
                  <a:pt x="2633472" y="27432"/>
                </a:cubicBezTo>
                <a:cubicBezTo>
                  <a:pt x="2450376" y="41087"/>
                  <a:pt x="2160769" y="46494"/>
                  <a:pt x="1909267" y="27432"/>
                </a:cubicBezTo>
                <a:cubicBezTo>
                  <a:pt x="1657765" y="8370"/>
                  <a:pt x="1623992" y="18792"/>
                  <a:pt x="1349654" y="27432"/>
                </a:cubicBezTo>
                <a:cubicBezTo>
                  <a:pt x="1075316" y="36072"/>
                  <a:pt x="833426" y="43325"/>
                  <a:pt x="691286" y="27432"/>
                </a:cubicBezTo>
                <a:cubicBezTo>
                  <a:pt x="549146" y="11539"/>
                  <a:pt x="342011" y="33345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38100" cap="rnd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16196E-8C00-39B3-4F48-4CB7507DAD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20040" y="2905963"/>
            <a:ext cx="5614416" cy="3368649"/>
          </a:xfrm>
          <a:prstGeom prst="rect">
            <a:avLst/>
          </a:prstGeom>
        </p:spPr>
      </p:pic>
      <p:pic>
        <p:nvPicPr>
          <p:cNvPr id="5" name="Content Placeholder 4" descr="A graph of numbers and a number of accounts&#10;&#10;AI-generated content may be incorrect.">
            <a:extLst>
              <a:ext uri="{FF2B5EF4-FFF2-40B4-BE49-F238E27FC236}">
                <a16:creationId xmlns:a16="http://schemas.microsoft.com/office/drawing/2014/main" id="{8979E7F9-D73B-C081-7590-9851C17B177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254496" y="2905963"/>
            <a:ext cx="5614416" cy="33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2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E0C81-A57A-C9AC-8599-DCDB28CD2FFC}"/>
              </a:ext>
            </a:extLst>
          </p:cNvPr>
          <p:cNvSpPr txBox="1"/>
          <p:nvPr/>
        </p:nvSpPr>
        <p:spPr>
          <a:xfrm>
            <a:off x="638881" y="759978"/>
            <a:ext cx="10909640" cy="10658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000" dirty="0">
                <a:latin typeface="+mj-lt"/>
                <a:ea typeface="+mj-ea"/>
                <a:cs typeface="+mj-cs"/>
              </a:rPr>
              <a:t>Exploratory Data Analysis (Cont.) - Leads and Contacts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27432"/>
          </a:xfrm>
          <a:custGeom>
            <a:avLst/>
            <a:gdLst>
              <a:gd name="connsiteX0" fmla="*/ 0 w 3291840"/>
              <a:gd name="connsiteY0" fmla="*/ 0 h 27432"/>
              <a:gd name="connsiteX1" fmla="*/ 625450 w 3291840"/>
              <a:gd name="connsiteY1" fmla="*/ 0 h 27432"/>
              <a:gd name="connsiteX2" fmla="*/ 1283818 w 3291840"/>
              <a:gd name="connsiteY2" fmla="*/ 0 h 27432"/>
              <a:gd name="connsiteX3" fmla="*/ 1975104 w 3291840"/>
              <a:gd name="connsiteY3" fmla="*/ 0 h 27432"/>
              <a:gd name="connsiteX4" fmla="*/ 2666390 w 3291840"/>
              <a:gd name="connsiteY4" fmla="*/ 0 h 27432"/>
              <a:gd name="connsiteX5" fmla="*/ 3291840 w 3291840"/>
              <a:gd name="connsiteY5" fmla="*/ 0 h 27432"/>
              <a:gd name="connsiteX6" fmla="*/ 3291840 w 3291840"/>
              <a:gd name="connsiteY6" fmla="*/ 27432 h 27432"/>
              <a:gd name="connsiteX7" fmla="*/ 2567635 w 3291840"/>
              <a:gd name="connsiteY7" fmla="*/ 27432 h 27432"/>
              <a:gd name="connsiteX8" fmla="*/ 1843430 w 3291840"/>
              <a:gd name="connsiteY8" fmla="*/ 27432 h 27432"/>
              <a:gd name="connsiteX9" fmla="*/ 1185062 w 3291840"/>
              <a:gd name="connsiteY9" fmla="*/ 27432 h 27432"/>
              <a:gd name="connsiteX10" fmla="*/ 0 w 3291840"/>
              <a:gd name="connsiteY10" fmla="*/ 27432 h 27432"/>
              <a:gd name="connsiteX11" fmla="*/ 0 w 3291840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1840" h="27432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0674" y="7395"/>
                  <a:pt x="3291885" y="21864"/>
                  <a:pt x="3291840" y="27432"/>
                </a:cubicBezTo>
                <a:cubicBezTo>
                  <a:pt x="3043276" y="47012"/>
                  <a:pt x="2921041" y="-3764"/>
                  <a:pt x="2567635" y="27432"/>
                </a:cubicBezTo>
                <a:cubicBezTo>
                  <a:pt x="2214230" y="58628"/>
                  <a:pt x="2189623" y="-3875"/>
                  <a:pt x="1843430" y="27432"/>
                </a:cubicBezTo>
                <a:cubicBezTo>
                  <a:pt x="1497237" y="58739"/>
                  <a:pt x="1492584" y="38324"/>
                  <a:pt x="1185062" y="27432"/>
                </a:cubicBezTo>
                <a:cubicBezTo>
                  <a:pt x="877540" y="16540"/>
                  <a:pt x="313238" y="555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91840" h="27432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2033" y="12649"/>
                  <a:pt x="3290852" y="17989"/>
                  <a:pt x="3291840" y="27432"/>
                </a:cubicBezTo>
                <a:cubicBezTo>
                  <a:pt x="3120474" y="24858"/>
                  <a:pt x="2816568" y="13777"/>
                  <a:pt x="2633472" y="27432"/>
                </a:cubicBezTo>
                <a:cubicBezTo>
                  <a:pt x="2450376" y="41087"/>
                  <a:pt x="2160769" y="46494"/>
                  <a:pt x="1909267" y="27432"/>
                </a:cubicBezTo>
                <a:cubicBezTo>
                  <a:pt x="1657765" y="8370"/>
                  <a:pt x="1623992" y="18792"/>
                  <a:pt x="1349654" y="27432"/>
                </a:cubicBezTo>
                <a:cubicBezTo>
                  <a:pt x="1075316" y="36072"/>
                  <a:pt x="833426" y="43325"/>
                  <a:pt x="691286" y="27432"/>
                </a:cubicBezTo>
                <a:cubicBezTo>
                  <a:pt x="549146" y="11539"/>
                  <a:pt x="342011" y="33345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38100" cap="rnd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aph of a number of lead sources&#10;&#10;AI-generated content may be incorrect.">
            <a:extLst>
              <a:ext uri="{FF2B5EF4-FFF2-40B4-BE49-F238E27FC236}">
                <a16:creationId xmlns:a16="http://schemas.microsoft.com/office/drawing/2014/main" id="{BC854C57-5337-B459-4173-495FE37CF8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0040" y="2905963"/>
            <a:ext cx="5614416" cy="336864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1BC22F-DB28-E89B-253E-7ECEC630D6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54496" y="2905963"/>
            <a:ext cx="5614416" cy="336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8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4AD08-71E8-9091-0210-13A168B2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>
                <a:latin typeface="Calibri"/>
                <a:ea typeface="+mj-lt"/>
                <a:cs typeface="+mj-lt"/>
              </a:rPr>
              <a:t>Key Questions &amp; Issues to Address</a:t>
            </a:r>
            <a:endParaRPr lang="en-US" sz="4800"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386584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38100" cap="rnd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4F27C-949A-90D0-4F81-96F9A6E1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b="1">
                <a:latin typeface="Calibri"/>
                <a:ea typeface="+mn-lt"/>
                <a:cs typeface="+mn-lt"/>
              </a:rPr>
              <a:t>Focus Areas for Client Acquisition: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300">
                <a:latin typeface="Calibri"/>
                <a:ea typeface="+mn-lt"/>
                <a:cs typeface="+mn-lt"/>
              </a:rPr>
              <a:t>Our analysis will highlight key areas to focus on for landing more clients.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300" b="1">
                <a:latin typeface="Calibri"/>
                <a:ea typeface="+mn-lt"/>
                <a:cs typeface="+mn-lt"/>
              </a:rPr>
              <a:t>Inquiry-to-Callback Time: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300">
                <a:latin typeface="Calibri"/>
                <a:ea typeface="+mn-lt"/>
                <a:cs typeface="+mn-lt"/>
              </a:rPr>
              <a:t>What is the average, minimum, and maximum number of days from inquiry to callback?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300" b="1">
                <a:latin typeface="Calibri"/>
                <a:ea typeface="+mn-lt"/>
                <a:cs typeface="+mn-lt"/>
              </a:rPr>
              <a:t>Business Relationship Stages: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300">
                <a:latin typeface="Calibri"/>
                <a:ea typeface="+mn-lt"/>
                <a:cs typeface="+mn-lt"/>
              </a:rPr>
              <a:t>Count the number of “probabilities” in the dataset, which may represent stages in business relationship development.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300" b="1">
                <a:latin typeface="Calibri"/>
                <a:ea typeface="+mn-lt"/>
                <a:cs typeface="+mn-lt"/>
              </a:rPr>
              <a:t>State/Region Impact: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US" sz="1300">
                <a:latin typeface="Calibri"/>
                <a:ea typeface="+mn-lt"/>
                <a:cs typeface="+mn-lt"/>
              </a:rPr>
              <a:t>Do certain states or regions influence the number of inquiries and probabilities in the dataset?</a:t>
            </a:r>
            <a:endParaRPr lang="en-US" sz="1300"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13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456AF111-4752-97E8-C4BD-F352570550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6745" y="642007"/>
            <a:ext cx="4538818" cy="432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28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6100" dirty="0">
                <a:latin typeface="Arial"/>
                <a:cs typeface="Arial"/>
              </a:rPr>
              <a:t>Final Words/What To Expect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38100" cap="rnd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Construction of customer management accounts.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Data collection methods to gain important metrics.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Creation of Interactive dashboard on data insights.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Plan and solutions for long-term growth.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2E61B7-E9F3-1B1F-1B65-415C310F31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9" r="61192" b="-5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E6390-537A-8658-B443-A0294917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39226"/>
            <a:ext cx="5289535" cy="1436505"/>
          </a:xfrm>
        </p:spPr>
        <p:txBody>
          <a:bodyPr anchor="b">
            <a:noAutofit/>
          </a:bodyPr>
          <a:lstStyle/>
          <a:p>
            <a:r>
              <a:rPr lang="en-US" sz="4600" dirty="0">
                <a:latin typeface="Calibri"/>
                <a:ea typeface="Calibri"/>
                <a:cs typeface="Arial"/>
              </a:rPr>
              <a:t>Concluding Thoughts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386584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C34D4D"/>
          </a:solidFill>
          <a:ln w="38100" cap="rnd">
            <a:solidFill>
              <a:srgbClr val="C34D4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D4B2-6EA0-5104-0E23-67C4585D5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latin typeface="Calibri"/>
                <a:ea typeface="Calibri"/>
                <a:cs typeface="Arial"/>
              </a:rPr>
              <a:t>Opportunity to improve internal process.</a:t>
            </a:r>
          </a:p>
          <a:p>
            <a:r>
              <a:rPr lang="en-US" dirty="0">
                <a:latin typeface="Calibri"/>
                <a:ea typeface="Calibri"/>
                <a:cs typeface="Arial"/>
              </a:rPr>
              <a:t>The implementation of data governance.</a:t>
            </a:r>
          </a:p>
          <a:p>
            <a:r>
              <a:rPr lang="en-US" dirty="0">
                <a:latin typeface="Calibri"/>
                <a:ea typeface="Calibri"/>
                <a:cs typeface="Arial"/>
              </a:rPr>
              <a:t>Forward-focus plan for Big Sky.</a:t>
            </a:r>
          </a:p>
          <a:p>
            <a:r>
              <a:rPr lang="en-US" dirty="0">
                <a:latin typeface="Calibri"/>
                <a:ea typeface="Calibri"/>
                <a:cs typeface="Arial"/>
              </a:rPr>
              <a:t>The rise of new leads.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Graphic 16" descr="Workflow">
            <a:extLst>
              <a:ext uri="{FF2B5EF4-FFF2-40B4-BE49-F238E27FC236}">
                <a16:creationId xmlns:a16="http://schemas.microsoft.com/office/drawing/2014/main" id="{CA3F6665-D3A7-D2C5-B181-8A9460E9B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7531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AnalogousFromDarkSeedLeftStep">
      <a:dk1>
        <a:srgbClr val="000000"/>
      </a:dk1>
      <a:lt1>
        <a:srgbClr val="FFFFFF"/>
      </a:lt1>
      <a:dk2>
        <a:srgbClr val="1C2F31"/>
      </a:dk2>
      <a:lt2>
        <a:srgbClr val="F0F3F3"/>
      </a:lt2>
      <a:accent1>
        <a:srgbClr val="C34D4D"/>
      </a:accent1>
      <a:accent2>
        <a:srgbClr val="B13B6D"/>
      </a:accent2>
      <a:accent3>
        <a:srgbClr val="C34DB0"/>
      </a:accent3>
      <a:accent4>
        <a:srgbClr val="933BB1"/>
      </a:accent4>
      <a:accent5>
        <a:srgbClr val="734DC3"/>
      </a:accent5>
      <a:accent6>
        <a:srgbClr val="444EB5"/>
      </a:accent6>
      <a:hlink>
        <a:srgbClr val="7E3FBF"/>
      </a:hlink>
      <a:folHlink>
        <a:srgbClr val="7F7F7F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366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The Hand Bold</vt:lpstr>
      <vt:lpstr>The Serif Hand Black</vt:lpstr>
      <vt:lpstr>SketchyVTI</vt:lpstr>
      <vt:lpstr>ALY 6980 CAPSTONE PROJECT</vt:lpstr>
      <vt:lpstr>Introduction</vt:lpstr>
      <vt:lpstr>BUSINESS QUESTION</vt:lpstr>
      <vt:lpstr>Tools and Data To Use</vt:lpstr>
      <vt:lpstr>Data Cleaning Process</vt:lpstr>
      <vt:lpstr>Exploratory Data Analysis</vt:lpstr>
      <vt:lpstr>PowerPoint Presentation</vt:lpstr>
      <vt:lpstr>PowerPoint Presentation</vt:lpstr>
      <vt:lpstr>Key Questions &amp; Issues to Address</vt:lpstr>
      <vt:lpstr>Final Words/What To Expect</vt:lpstr>
      <vt:lpstr>Concluding Thoughts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Sean McLean</cp:lastModifiedBy>
  <cp:revision>116</cp:revision>
  <dcterms:created xsi:type="dcterms:W3CDTF">2025-02-10T02:02:43Z</dcterms:created>
  <dcterms:modified xsi:type="dcterms:W3CDTF">2025-02-10T05:15:01Z</dcterms:modified>
</cp:coreProperties>
</file>